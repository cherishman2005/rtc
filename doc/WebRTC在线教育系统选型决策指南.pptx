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1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将深入探讨在线教育系统中至关重要的一环——WebRTC技术选型。我们将对比两种主流方案：直接采购第三方RTC服务和基于开源技术全自研。本次分享旨在帮助大家从成本、难度、效率等多个维度，做出最适合自身业务发展的明智决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一下在线教育系统的通用五层架构。从终端接入到业务后端，每一层各司其职。而我们今天讨论的焦点，集中在第三层——媒体转发层。这一层是决定我们采用第三方服务还是自研的关键。我们将围绕这两条技术路线展开详细的对比分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种方案是采购第三方RTC服务。这是目前绝大多数在线教育公司的选择。我们只需要在客户端集成厂商提供的SDK，后端通过API调用他们的服务即可。所有复杂的音视频处理、网络穿透、全球部署等难题，都由厂商来解决。我们的开发团队可以更专注于上层的业务逻辑和用户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种方案是全自研。这意味着我们需要基于mediasoup这样的开源框架，从零开始构建一套完整的音视频系统。这包括自建SFU服务器、NAT穿透服务器、信令服务、录制转码服务等等。如这张mediasoup架构图所示，整个技术栈非常复杂，需要一个专业的音视频研发团队来支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进入核心对比环节。首先是成本。第三方方案的优势非常明显：一次性投入极低，月度开销按需付费，弹性伸缩，没有资源浪费。而自研方案需要高昂的一次性投入来组建团队和采购服务器，并且每月都有刚性的服务器和带宽开销，即使在业务淡季也无法避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来看开发难度和效率。第三方方案几乎没有技术门槛，开发团队只需要调用API即可，2到4周就能完成全功能上线。而自研方案则需要面对无数的技术深坑，从网络穿透到安卓机型适配，每一个问题都可能耗费数月时间，整体上线周期至少需要半年以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运维和稳定性是在线教育的生命线。选择第三方方案，意味着我们将运维的责任交给了专业的厂商，他们有7x24小时的团队来保障服务稳定，并能轻松应对开学季等流量高峰。而自研方案则需要我们自建一支强大的运维团队，7x24小时待命，任何突发状况都需要自己解决，风险极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谈谈定制化和合规性。如果你的业务需要深度定制，比如针对特定场景优化音视频质量，或者有数据不出本地机房的合规要求（如公立学校项目），那么自研几乎是唯一的选择。第三方方案虽然方便，但在底层定制和私有化部署方面存在天然的限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综合以上分析，我们可以得出清晰的选型建议。对于初创和小型机构，毫无疑问，全第三方方案是最佳选择。对于中型公司，可以考虑混合架构或半自研，在成本和灵活性之间找到平衡。而对于用户体量巨大或有特殊合规需求的头部集团，主力自研并辅以第三方作为兜底，则是更稳妥的策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我的分享到此结束，希望能为大家的技术选型提供有价值的参考。现在是问答环节，欢迎大家提问交流。谢谢！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svg"/><Relationship Id="rId8" Type="http://schemas.openxmlformats.org/officeDocument/2006/relationships/image" Target="../media/image15.png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8.svg"/><Relationship Id="rId10" Type="http://schemas.openxmlformats.org/officeDocument/2006/relationships/image" Target="../media/image17.png"/><Relationship Id="rId1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svg"/><Relationship Id="rId8" Type="http://schemas.openxmlformats.org/officeDocument/2006/relationships/image" Target="../media/image23.png"/><Relationship Id="rId7" Type="http://schemas.openxmlformats.org/officeDocument/2006/relationships/image" Target="../media/image22.svg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29.svg"/><Relationship Id="rId7" Type="http://schemas.openxmlformats.org/officeDocument/2006/relationships/image" Target="../media/image28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7.svg"/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10.svg"/><Relationship Id="rId13" Type="http://schemas.openxmlformats.org/officeDocument/2006/relationships/image" Target="../media/image9.png"/><Relationship Id="rId12" Type="http://schemas.openxmlformats.org/officeDocument/2006/relationships/image" Target="../media/image31.svg"/><Relationship Id="rId11" Type="http://schemas.openxmlformats.org/officeDocument/2006/relationships/image" Target="../media/image30.png"/><Relationship Id="rId10" Type="http://schemas.openxmlformats.org/officeDocument/2006/relationships/image" Target="../media/image16.svg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7.svg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7.svg"/><Relationship Id="rId6" Type="http://schemas.openxmlformats.org/officeDocument/2006/relationships/image" Target="../media/image36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7.svg"/><Relationship Id="rId6" Type="http://schemas.openxmlformats.org/officeDocument/2006/relationships/image" Target="../media/image3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svg"/><Relationship Id="rId8" Type="http://schemas.openxmlformats.org/officeDocument/2006/relationships/image" Target="../media/image52.png"/><Relationship Id="rId7" Type="http://schemas.openxmlformats.org/officeDocument/2006/relationships/image" Target="../media/image51.svg"/><Relationship Id="rId6" Type="http://schemas.openxmlformats.org/officeDocument/2006/relationships/image" Target="../media/image50.png"/><Relationship Id="rId5" Type="http://schemas.openxmlformats.org/officeDocument/2006/relationships/image" Target="../media/image49.svg"/><Relationship Id="rId4" Type="http://schemas.openxmlformats.org/officeDocument/2006/relationships/image" Target="../media/image48.png"/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55.svg"/><Relationship Id="rId10" Type="http://schemas.openxmlformats.org/officeDocument/2006/relationships/image" Target="../media/image54.png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svg"/><Relationship Id="rId8" Type="http://schemas.openxmlformats.org/officeDocument/2006/relationships/image" Target="../media/image60.png"/><Relationship Id="rId7" Type="http://schemas.openxmlformats.org/officeDocument/2006/relationships/image" Target="../media/image59.svg"/><Relationship Id="rId6" Type="http://schemas.openxmlformats.org/officeDocument/2006/relationships/image" Target="../media/image58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57.svg"/><Relationship Id="rId2" Type="http://schemas.openxmlformats.org/officeDocument/2006/relationships/image" Target="../media/image56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WebRTC在线教育系统选型决策指南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17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自研 vs. 第三方RTC深度对比分析，助力业务选择最优技术路径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318000"/>
            <a:ext cx="10160000" cy="25400"/>
          </a:xfrm>
          <a:prstGeom prst="roundRect">
            <a:avLst>
              <a:gd name="adj" fmla="val 0"/>
            </a:avLst>
          </a:prstGeom>
          <a:solidFill>
            <a:srgbClr val="8B5CF6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4826000"/>
            <a:ext cx="32131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0" y="5016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841500" y="49784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成本投入模型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70000" y="5588000"/>
            <a:ext cx="27051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对比自研服务器搭建、运维人力成本与第三方按量付费模式，分析长期投入产出比的平衡点。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83100" y="4826000"/>
            <a:ext cx="32131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7100" y="5016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308600" y="49784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技术实施门槛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737100" y="5588000"/>
            <a:ext cx="27051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评估音视频编解码、网络穿透等底层技术的研发难度，以及团队对开源框架的二次开发能力。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950200" y="4826000"/>
            <a:ext cx="32131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04200" y="5016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775700" y="49784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业务迭代效率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04200" y="5588000"/>
            <a:ext cx="27051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考量系统上线周期、功能更新速度，以及应对突发流量和复杂教学场景的快速响应能力。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核心架构与技术选型路线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在线教育系统普遍采用五层架构体系，其中</a:t>
            </a:r>
            <a:r>
              <a:rPr lang="en-US" sz="16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媒体转发层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作为音视频数据的核心枢纽，是技术选型的关键分水岭。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2032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603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2565400"/>
            <a:ext cx="133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接入层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26443">
            <a:off x="952524" y="31051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889000" y="3238500"/>
            <a:ext cx="177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聚合H5、APP、小程序等多端终端入口，实现全平台无缝接入体验。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984500" y="2413000"/>
            <a:ext cx="2032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75000" y="2603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556000" y="2565400"/>
            <a:ext cx="133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信令层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26443">
            <a:off x="3175024" y="31051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3111500" y="3238500"/>
            <a:ext cx="177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统筹房间生命周期管理、用户权限控制及全链路状态同步，保障交互有序。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207000" y="2413000"/>
            <a:ext cx="2032000" cy="1778000"/>
          </a:xfrm>
          <a:prstGeom prst="roundRect">
            <a:avLst>
              <a:gd name="adj" fmla="val 0"/>
            </a:avLst>
          </a:prstGeom>
          <a:solidFill>
            <a:srgbClr val="8B5CF6">
              <a:alpha val="10000"/>
            </a:srgbClr>
          </a:solidFill>
          <a:ln w="25400" cap="flat" cmpd="sng">
            <a:solidFill>
              <a:srgbClr val="8B5C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97500" y="2603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778500" y="2565400"/>
            <a:ext cx="133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媒体转发层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26443">
            <a:off x="5397524" y="31051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B5CF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5334000" y="3238500"/>
            <a:ext cx="177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技术选型核心：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负责音视频智能路由、弱网对抗及NAT穿透，决定系统稳定性上限。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429500" y="2413000"/>
            <a:ext cx="2032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0000" y="2603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001000" y="2565400"/>
            <a:ext cx="133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旁路处理层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26443">
            <a:off x="7620024" y="31051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7556500" y="3238500"/>
            <a:ext cx="177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提供云端录制、实时转码、CDN推流直播能力，沉淀教学资产与扩大触达。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652000" y="2413000"/>
            <a:ext cx="2032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842500" y="26035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0223500" y="2565400"/>
            <a:ext cx="133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业务后端层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26443">
            <a:off x="9842524" y="31051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9779000" y="3238500"/>
            <a:ext cx="177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承载课程体系、用户中心、订单支付等核心业务逻辑，支撑上层商业闭环。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4092">
            <a:off x="762004" y="456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762000" y="4889500"/>
            <a:ext cx="5397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8B5CF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762000" y="4889500"/>
            <a:ext cx="76200" cy="14605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1016000" y="49784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路线一：采购第三方商用 RTC 服务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-8814">
            <a:off x="1016008" y="5454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1016000" y="5588000"/>
            <a:ext cx="495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代表厂商：腾讯TRTC、声网Agora、火山RTC等。优势在于开箱即用、快速集成，无需投入大量人力关注底层传输细节，适合初期快速验证业务。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413500" y="4889500"/>
            <a:ext cx="5397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8B5CF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6413500" y="4889500"/>
            <a:ext cx="76200" cy="1460500"/>
          </a:xfrm>
          <a:prstGeom prst="roundRect">
            <a:avLst>
              <a:gd name="adj" fmla="val 0"/>
            </a:avLst>
          </a:prstGeom>
          <a:solidFill>
            <a:srgbClr val="5B21B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6667500" y="49784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路线二：基于开源 WebRTC 自研 SFU 系统</a:t>
            </a:r>
            <a:endParaRPr lang="en-US" sz="1100"/>
          </a:p>
        </p:txBody>
      </p:sp>
      <p:cxnSp>
        <p:nvCxnSpPr>
          <p:cNvPr id="39" name="Connector 39"/>
          <p:cNvCxnSpPr/>
          <p:nvPr/>
        </p:nvCxnSpPr>
        <p:spPr>
          <a:xfrm rot="-8814">
            <a:off x="6667508" y="5454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AutoShape 40"/>
          <p:cNvSpPr/>
          <p:nvPr/>
        </p:nvSpPr>
        <p:spPr>
          <a:xfrm>
            <a:off x="6667500" y="5588000"/>
            <a:ext cx="495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代表框架：mediasoup、LiveKit、Janus。可实现协议深度定制、成本自主可控，但对音视频底层技术储备要求极高，适合中大型平台长期演进。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方案一：采购第三方RTC服务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8B5C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76200" cy="7620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460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核心思想：将复杂的音视频底层能力外包给专业厂商，开发团队专注于上层业务逻辑与用户体验，极大降低研发门槛与维护成本。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3365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857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81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媒体层：全平台SDK接入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628">
            <a:off x="952514" y="32956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52500" y="3429000"/>
            <a:ext cx="298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直接集成厂商封装好的JS、Android、iOS、小程序全端SDK，内置SFU、弱网优化、全球节点等核心能力，无需从零开发。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2667000"/>
            <a:ext cx="3365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2857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016500" y="281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信令层：自研+OpenAPI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628">
            <a:off x="4572014" y="32956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572000" y="3429000"/>
            <a:ext cx="298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业务信令完全自研，通过调用厂商OpenAPI管理房间与用户；底层媒体信令由SDK内置处理，降低服务端开发复杂度。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699000"/>
            <a:ext cx="3365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889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97000" y="4851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旁路处理：云端托管服务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628">
            <a:off x="952514" y="53276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952500" y="5461000"/>
            <a:ext cx="298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云端录制、CDN推流、实时转码等复杂旁路功能均由厂商托管，仅需调用API即可开启，无需自建处理集群。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381500" y="4699000"/>
            <a:ext cx="3365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72000" y="4889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5016500" y="4851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前端开发：极简集成实现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14628">
            <a:off x="4572014" y="53276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4572000" y="5461000"/>
            <a:ext cx="298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仅需约50行核心代码即可快速实现进房、连麦、发布流等核心功能，大幅缩短开发周期，让团队聚焦业务创新。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5388346">
            <a:off x="6127750" y="4533911"/>
            <a:ext cx="374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8191500" y="2667000"/>
            <a:ext cx="3365500" cy="37465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318500" y="2794000"/>
            <a:ext cx="3111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系统架构流程示意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382000" y="3429000"/>
            <a:ext cx="1333500" cy="762000"/>
          </a:xfrm>
          <a:prstGeom prst="roundRect">
            <a:avLst>
              <a:gd name="adj" fmla="val 0"/>
            </a:avLst>
          </a:prstGeom>
          <a:solidFill>
            <a:srgbClr val="8B5CF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445500" y="3530600"/>
            <a:ext cx="12065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客户端 A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集成厂商SDK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9969500" y="3429000"/>
            <a:ext cx="1333500" cy="762000"/>
          </a:xfrm>
          <a:prstGeom prst="roundRect">
            <a:avLst>
              <a:gd name="adj" fmla="val 0"/>
            </a:avLst>
          </a:prstGeom>
          <a:solidFill>
            <a:srgbClr val="8B5CF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10033000" y="3530600"/>
            <a:ext cx="12065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客户端 B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集成厂商SDK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4" name="Connector 34"/>
          <p:cNvCxnSpPr/>
          <p:nvPr/>
        </p:nvCxnSpPr>
        <p:spPr>
          <a:xfrm rot="-171744">
            <a:off x="9715659" y="38036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8B5CF6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35" name="AutoShape 35"/>
          <p:cNvSpPr/>
          <p:nvPr/>
        </p:nvSpPr>
        <p:spPr>
          <a:xfrm>
            <a:off x="8382000" y="4572000"/>
            <a:ext cx="2921000" cy="635000"/>
          </a:xfrm>
          <a:prstGeom prst="roundRect">
            <a:avLst>
              <a:gd name="adj" fmla="val 0"/>
            </a:avLst>
          </a:prstGeom>
          <a:solidFill>
            <a:srgbClr val="3B82F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8445500" y="4673600"/>
            <a:ext cx="279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厂商云端核心服务集群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SFU转发 / 全球节点 / 旁路处理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7" name="Connector 37"/>
          <p:cNvCxnSpPr/>
          <p:nvPr/>
        </p:nvCxnSpPr>
        <p:spPr>
          <a:xfrm rot="5285450">
            <a:off x="9652000" y="43752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8B5CF6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38" name="AutoShape 38"/>
          <p:cNvSpPr/>
          <p:nvPr/>
        </p:nvSpPr>
        <p:spPr>
          <a:xfrm>
            <a:off x="8382000" y="5588000"/>
            <a:ext cx="2921000" cy="635000"/>
          </a:xfrm>
          <a:prstGeom prst="roundRect">
            <a:avLst>
              <a:gd name="adj" fmla="val 0"/>
            </a:avLst>
          </a:prstGeom>
          <a:solidFill>
            <a:srgbClr val="F59E0B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8445500" y="5689600"/>
            <a:ext cx="279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自研业务服务器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通过OpenAPI管理房间与用户生命周期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40" name="Connector 40"/>
          <p:cNvCxnSpPr/>
          <p:nvPr/>
        </p:nvCxnSpPr>
        <p:spPr>
          <a:xfrm rot="5285450">
            <a:off x="9652000" y="53912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9E0B">
                <a:alpha val="100000"/>
              </a:srgbClr>
            </a:solidFill>
            <a:prstDash val="dash"/>
            <a:round/>
            <a:headEnd type="none" w="med" len="med"/>
            <a:tailEnd type="arrow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方案二：基于开源WebRTC全自研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核心思想：完全掌控底层技术，基于成熟开源框架深度定制，构建自主可控的音视频系统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843" r="843"/>
          <a:stretch>
            <a:fillRect/>
          </a:stretch>
        </p:blipFill>
        <p:spPr>
          <a:xfrm>
            <a:off x="762000" y="2286000"/>
            <a:ext cx="4572000" cy="330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5778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图示为 Mediasoup 流媒体服务器多层架构，展示了从客户端 WebRTC 接入到 Node.js 控制层，再到 C++ 核心层的完整数据流向与交互逻辑。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89582">
            <a:off x="3746500" y="4248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096000" y="2159000"/>
            <a:ext cx="2857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000" y="2286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667500" y="22606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SFU 高性能媒体服务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2730500"/>
            <a:ext cx="2603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采用业界首选的 mediasoup (C++) 框架，具备低延迟、高并发特性，生态成熟且可深度定制化开发。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096000" y="3556000"/>
            <a:ext cx="2857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3000" y="3683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667500" y="36576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自建 NAT 穿透集群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4127500"/>
            <a:ext cx="2603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部署私有化 STUN/TURN 服务器集群，有效解决复杂网络环境（如 4G/5G、企业内网）下的端到端连接问题。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096000" y="4953000"/>
            <a:ext cx="2857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3000" y="5080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667500" y="50546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高并发信令交互层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5524500"/>
            <a:ext cx="2603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自研 WebSocket 信令服务，精细化管理房间状态、用户上下线及媒体协商，保障交互的实时性与一致性。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144000" y="2159000"/>
            <a:ext cx="2857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71000" y="2286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715500" y="22606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云端转码与录制分发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271000" y="2730500"/>
            <a:ext cx="2603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 FFmpeg 实现云端录制、混流与多码率转码，支持旁路流推送到第三方 CDN，实现大规模直播分发。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144000" y="3556000"/>
            <a:ext cx="2857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71000" y="36830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715500" y="36576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全链路监控与 QoS 保障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271000" y="4127500"/>
            <a:ext cx="2603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Prometheus + Grafana 构建监控体系，实时采集丢包、延迟、抖动等 QOS 指标，确保服务稳定性。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144000" y="4953000"/>
            <a:ext cx="2857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71000" y="50800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9715500" y="50546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多端原生客户端适配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271000" y="5524500"/>
            <a:ext cx="2603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H5 端直接调用原生 WebRTC API，移动端自行编译 libwebrtc 底层库，实现极致的性能与体验优化。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成本分析：第三方 vs 全自研RTC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905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8796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一次性投入成本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3">
            <a:off x="952513" y="2470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2667000"/>
            <a:ext cx="304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第三方方案：极低门槛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无需服务器采购，仅需少量开发人力完成对接，启动成本几乎为零。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323">
            <a:off x="952513" y="380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52500" y="3937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全自研方案：投入高昂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需采购硬件或租赁服务器，还需组建百万年薪级的音视频研发团队。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45000" y="1651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4450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1905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080000" y="18796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持续月度开销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4323">
            <a:off x="4635513" y="2470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635500" y="2667000"/>
            <a:ext cx="304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第三方方案：弹性可控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按量计费（0.003-0.006元/分钟/路），随业务量波动，无闲置资源浪费。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323">
            <a:off x="4635513" y="380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4635500" y="3937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全自研方案：刚性固定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服务器包月费、高额带宽费是固定支出，业务淡季时资源空耗，成本无法缩减。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001000" y="1651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0010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1905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636000" y="18796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隐性与风险成本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4323">
            <a:off x="8191513" y="2470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191500" y="2667000"/>
            <a:ext cx="304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第三方方案：成本透明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除标准服务外，仅深度定制功能需额外付费，无意外故障赔付风险。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4323">
            <a:off x="8191513" y="380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191500" y="3937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全自研方案：隐性高昂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线上故障引发的用户退费、客诉赔付，以及持续的技术迭代与人力维护成本。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5334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8B5C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762000" y="5334000"/>
            <a:ext cx="76200" cy="10160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1079500" y="5461000"/>
            <a:ext cx="1003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核心结论：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对于绝大多数企业而言，第三方RTC方案在一次性投入、月度弹性开销及隐性风险成本上，相比全自研方案均具备压倒性优势，能显著降低企业的资金压力与试错风险。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对比维度二：开发难度与效率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0320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技术门槛：极低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167">
            <a:off x="1016008" y="2597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794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无需掌握WebRTC底层复杂知识，厂商已封装好成熟SDK，一站式解决NAT穿透、回声消除、海量机型兼容等行业技术难题。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167">
            <a:off x="1016008" y="393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4064000"/>
            <a:ext cx="476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仅需集成SDK并对接标准API，无需处理底层音视频流，开发团队可在2-4周内快速完成功能开发与上线，快速验证商业模式。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159500" y="1778000"/>
            <a:ext cx="52705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2032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21500" y="20320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技术门槛：极高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167">
            <a:off x="6413508" y="2597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13500" y="2794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需自建音视频技术团队，攻克网络穿透、音视频编解码适配、跨端兼容性、弱网抗丢包等一系列行业顶尖技术难题。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167">
            <a:off x="6413508" y="393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413500" y="4064000"/>
            <a:ext cx="476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从基础集群部署、信令服务器搭建到全链路功能打通与压力测试，漫长的研发与调优周期，稳定商用至少需要6-12个月。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461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8B5CF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7658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651000" y="55880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核心结论：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选择成熟的第三方RTC方案，能让团队彻底摆脱底层技术包袱，将核心人力、物力聚焦于核心业务创新，从而实现产品的快速上线与市场验证。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对比维度三：运维与稳定性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70500" cy="508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0066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第三方RTC：厂商专业兜底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167">
            <a:off x="1016008" y="266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7813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运维模式：全托管服务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提供7*24小时故障极速响应，依托全球分布式机房实现异地容灾，流量高峰可自动弹性扩容，无需人工干预。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167">
            <a:off x="1016008" y="387731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4074160"/>
            <a:ext cx="476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稳定性保障：抗风险能力极强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专业技术团队持续迭代优化，可从容应对开学季、大促等突发流量洪峰，服务SLA可达99.99%以上。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159500" y="1778000"/>
            <a:ext cx="52705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159500" y="1778000"/>
            <a:ext cx="5270500" cy="50800"/>
          </a:xfrm>
          <a:prstGeom prst="roundRect">
            <a:avLst>
              <a:gd name="adj" fmla="val 0"/>
            </a:avLst>
          </a:prstGeom>
          <a:solidFill>
            <a:srgbClr val="6B72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2032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858000" y="20066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全自研RTC：依赖团队硬实力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167">
            <a:off x="6413508" y="266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413500" y="27813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运维模式：自建团队全权负责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需组建专业运维团队7*24小时值守，网络抖动、机房故障、流量异常等所有问题均需自主排查，人力成本极高。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9167">
            <a:off x="6413508" y="387731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413500" y="4074160"/>
            <a:ext cx="476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稳定性保障：风险不可控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系统稳定性完全依赖团队经验与技术积累，一旦出现流量预估失误或极端故障，极易导致服务中断甚至全面崩盘。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461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8B5CF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62000" y="5461000"/>
            <a:ext cx="76200" cy="8890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9500" y="56896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651000" y="5461000"/>
            <a:ext cx="952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核心结论：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第三方方案将底层架构的运维风险、突发故障的处理压力以及成本投入，完全转移给专业厂商，让团队聚焦核心业务创新。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对比维度四：定制化与合规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70500" cy="6096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52600"/>
            <a:ext cx="4889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第三方RTC方案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929">
            <a:off x="952508" y="25336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730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692400"/>
            <a:ext cx="444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定制化能力受限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虽提供标准化功能，但底层音视频处理逻辑为黑盒，无法针对艺考、声乐等特殊业务场景进行深度优化与修改。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8929">
            <a:off x="952508" y="40576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254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4216400"/>
            <a:ext cx="444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私有化部署困难且昂贵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数据流需经过厂商公有云服务器，难以满足“数据不出本地”的合规要求；即便支持私有化，年费成本也极为高昂。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86500" y="1651000"/>
            <a:ext cx="5270500" cy="3556000"/>
          </a:xfrm>
          <a:prstGeom prst="roundRect">
            <a:avLst>
              <a:gd name="adj" fmla="val 0"/>
            </a:avLst>
          </a:prstGeom>
          <a:solidFill>
            <a:srgbClr val="8B5CF6">
              <a:alpha val="8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86500" y="1651000"/>
            <a:ext cx="5270500" cy="609600"/>
          </a:xfrm>
          <a:prstGeom prst="roundRect">
            <a:avLst>
              <a:gd name="adj" fmla="val 0"/>
            </a:avLst>
          </a:prstGeom>
          <a:solidFill>
            <a:srgbClr val="8B5CF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1752600"/>
            <a:ext cx="4889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全自研RTC方案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8929">
            <a:off x="6477008" y="25336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730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21500" y="2692400"/>
            <a:ext cx="444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100% 底层逻辑可控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可自定义音视频算法、实现私有加密协议，完美适配艺考、声乐教学等专业场景的特殊音视频质量与交互需求。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9" name="Connector 19"/>
          <p:cNvCxnSpPr/>
          <p:nvPr/>
        </p:nvCxnSpPr>
        <p:spPr>
          <a:xfrm rot="-8929">
            <a:off x="6477008" y="40576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254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21500" y="4216400"/>
            <a:ext cx="444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完美支持本地化合规部署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支持本地机房私有化部署，数据完全留存本地，彻底满足公立学校、政企等对数据安全与合规的严苛要求。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62000" y="5588000"/>
            <a:ext cx="10795000" cy="762000"/>
          </a:xfrm>
          <a:prstGeom prst="roundRect">
            <a:avLst>
              <a:gd name="adj" fmla="val 0"/>
            </a:avLst>
          </a:prstGeom>
          <a:solidFill>
            <a:srgbClr val="8B5CF6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57658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651000" y="5689600"/>
            <a:ext cx="965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结论：自研是满足深度业务定制和严格数据合规要求的唯一可行途径。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选型结论与建议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根据企业体量和业务需求，结合成本、灵活性与合规性，选择最适配的技术方案：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286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260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初创 / 小机构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323">
            <a:off x="952513" y="2851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3048000"/>
            <a:ext cx="304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方案：全第三方RTC服务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3810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投入少、上线快，无需搭建复杂基建，可将核心人力聚焦于业务创新，快速验证商业模式，降低试错成本。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2032000"/>
            <a:ext cx="3429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3815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2286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016500" y="2260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中型教育公司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4323">
            <a:off x="4572013" y="2851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72000" y="3048000"/>
            <a:ext cx="304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方案：混合架构 / 半自研模式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72000" y="3810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媒体层采用成熟第三方服务，自研上层信令与业务逻辑以平衡成本和灵活性；或基于开源项目二次开发，有效降低长期技术债务。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001000" y="2032000"/>
            <a:ext cx="3429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001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22860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636000" y="2260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头部集团 / 政企项目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4323">
            <a:off x="8191513" y="2851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191500" y="3048000"/>
            <a:ext cx="304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方案：主力自研 + 第三方兜底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191500" y="3810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自研架构满足私有化部署、数据合规及深度定制需求，长期边际成本更低；第三方服务用于应对突发流量洪峰及覆盖海外复杂网络环境。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5334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8B5CF6">
              <a:alpha val="10000"/>
            </a:srgbClr>
          </a:solidFill>
          <a:ln w="12700" cap="flat" cmpd="sng">
            <a:solidFill>
              <a:srgbClr val="8B5CF6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5638800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1524000" y="5486400"/>
            <a:ext cx="965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B4530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绝对避雷：在线教育多人课堂禁止使用原生WebRTC P2P架构！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必须采用SFU（Selective Forwarding Unit）架构，才能有效控制带宽消耗，保障弱网环境下的音视频质量与课堂稳定性。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66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461000" y="3937000"/>
            <a:ext cx="1270000" cy="381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715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欢迎提出您的问题，让我们共同探讨技术与合作的更多可能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3359</Words>
  <Application>WPS 演示</Application>
  <PresentationFormat/>
  <Paragraphs>216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阿武</cp:lastModifiedBy>
  <cp:revision>2</cp:revision>
  <dcterms:created xsi:type="dcterms:W3CDTF">2026-06-06T12:41:00Z</dcterms:created>
  <dcterms:modified xsi:type="dcterms:W3CDTF">2026-06-07T01:38:05Z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{"Label":"1","ContentProducer":"001191110102MACQD9K64010000","ProduceID":"7648261530269633733","ReservedCode1":"","ContentPropagator":"","PropagateID":"","ReservedCode2":""}</vt:lpwstr>
  </property>
  <property fmtid="{D5CDD505-2E9C-101B-9397-08002B2CF9AE}" pid="3" name="ICV">
    <vt:lpwstr>BE6A9C9E52034FB48661C2E0048B552C_12</vt:lpwstr>
  </property>
  <property fmtid="{D5CDD505-2E9C-101B-9397-08002B2CF9AE}" pid="4" name="KSOProductBuildVer">
    <vt:lpwstr>2052-12.1.0.26895</vt:lpwstr>
  </property>
</Properties>
</file>