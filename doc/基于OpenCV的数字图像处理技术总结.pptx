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大家好，今天我将为大家分享基于OpenCV的数字图像处理技术。本次分享将聚焦于核心技术、实践应用以及未来发展趋势，希望能帮助大家快速掌握这一强大工具的精髓。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了解一下OpenCV。它是一个功能强大的开源计算机视觉库，拥有超过2500个优化算法。其中，imgproc模块是我们进行数字图像处理的核心。这张架构图展示了OpenCV的主要模块，从基础的core模块到处理视频的video模块，再到进行三维重建的calib3d模块，构成了一个完整的视觉处理生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图像处理的基础操作是第一步。这包括图像的读写显示、色彩空间转换以及各种几何变换。例如，我们需要知道OpenCV默认使用BGR格式，在与其他库配合时需要转换。同时，裁剪、缩放和旋转是处理图像尺寸和角度的常用手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图像滤波是图像处理中最基础也最重要的步骤之一。它的主要目的是去除噪声，平滑图像或增强细节。我们常用的有三种滤波：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高斯滤波：适合处理高斯噪声，处理后图像会整体变模糊。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中值滤波：对黑白相间的椒盐噪声效果显著，适合处理扫描或老照片。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双边滤波：这是一种非常特殊的滤波，它能在去噪的同时很好地保留图像的边缘细节，这也是为什么它常被用于美颜磨皮算法的核心原因。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理解这三种滤波的区别和适用场景，对于处理不同类型的图像数据至关重要。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边缘检测和形态学操作。边缘是图像的重要特征，Canny算法因其出色的效果而被广泛使用。而形态学操作则是处理二值图像的利器，通过腐蚀、膨胀等操作，我们可以实现去噪、轮廓提取、孔洞填充等高级功能，是后续图像分割和识别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图像分割是将图像中有意义的部分提取出来的过程。阈值分割是最简单有效的方法，特别是自适应阈值，能很好地处理光照不均的情况。在分割得到二值图像后，我们就可以通过轮廓检测来精确地定位和分析每个物体，获取它们的形状、大小等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了基础技术后，我们来看两个高级应用。透视变换可以轻松校正倾斜的文档，是实现完美扫描效果的关键。而特征匹配技术，例如使用ORB算法，可以在不同角度、不同光照的图片中找到同一个物体，这是图像拼接和目标跟踪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项目中，性能和稳定性至关重要。这里列出了一些实用的优化技巧，比如利用ROI只处理关心的区域，可以显著提升速度。同时，我们也总结了一些常见问题的解决方案，比如色彩显示异常，通常是因为忘记将BGR格式转换为RGB。掌握这些技巧能让你的开发过程更加顺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penCV的应用无处不在。从工业生产线上的缺陷检测，到医疗领域的病灶识别，再到我们日常使用的人脸识别，都离不开它。未来，OpenCV的发展趋势将更加智能化，特别是与深度学习的深度融合，以及向实时处理和3D视觉领域的扩展，将开启更多可能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OpenCV是一个功能强大的工具库，掌握它需要循序渐进。建议大家从基础操作开始，逐步深入核心算法，然后通过实战项目来巩固和提升。最终，结合深度学习等前沿技术，不断拓展自己的能力边界。希望今天的分享对大家有所帮助，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2.svg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18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2.svg"/><Relationship Id="rId11" Type="http://schemas.openxmlformats.org/officeDocument/2006/relationships/image" Target="../media/image41.png"/><Relationship Id="rId10" Type="http://schemas.openxmlformats.org/officeDocument/2006/relationships/image" Target="../media/image40.sv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62.svg"/><Relationship Id="rId13" Type="http://schemas.openxmlformats.org/officeDocument/2006/relationships/image" Target="../media/image61.png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image" Target="../media/image60.svg"/><Relationship Id="rId1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6.svg"/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基于OpenCV的数字图像处理技术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342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核心技术与实践应用总结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 简介与核心模块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▍OpenCV 是什么？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703195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677795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全称定义：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 Source Computer Vision Library，是一个完全免费的计算机视觉库。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92195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566795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跨平台（C++/Python/Java）、轻量级、高性能的计算机视觉</a:t>
            </a: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开源库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81195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455795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</a:t>
            </a:r>
            <a:r>
              <a:rPr lang="en-US" sz="1300" b="1" i="0" u="none" strike="noStrike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2500+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个高度优化的算法，覆盖图像处理与机器视觉全流程。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370195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5344795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入门核心：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imgproc 模块是图像处理基石，包含滤波、变换、色彩转换等核心功能。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778000"/>
            <a:ext cx="5080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203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 核心模块架构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747000" y="2667000"/>
            <a:ext cx="2286000" cy="762000"/>
          </a:xfrm>
          <a:prstGeom prst="roundRect">
            <a:avLst>
              <a:gd name="adj" fmla="val 13333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747000" y="2794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 Library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40500" y="3641090"/>
            <a:ext cx="1524000" cy="1143000"/>
          </a:xfrm>
          <a:prstGeom prst="roundRect">
            <a:avLst>
              <a:gd name="adj" fmla="val 6666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C8DC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04000" y="376809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基础数据结构(Mat)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矩阵运算 / 文件IO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128000" y="3641090"/>
            <a:ext cx="1524000" cy="1143000"/>
          </a:xfrm>
          <a:prstGeom prst="roundRect">
            <a:avLst>
              <a:gd name="adj" fmla="val 6666"/>
            </a:avLst>
          </a:prstGeom>
          <a:solidFill>
            <a:srgbClr val="E6F4FF">
              <a:alpha val="100000"/>
            </a:srgbClr>
          </a:solidFill>
          <a:ln w="127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191500" y="376809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A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imgproc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图像处理核心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滤波 / 变换 / 色彩转换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715500" y="3641090"/>
            <a:ext cx="1524000" cy="1143000"/>
          </a:xfrm>
          <a:prstGeom prst="roundRect">
            <a:avLst>
              <a:gd name="adj" fmla="val 6666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C8DC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779000" y="376809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features2d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特征检测与描述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(SIFT/SURF/ORB)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967220" y="4954270"/>
            <a:ext cx="1905000" cy="1016000"/>
          </a:xfrm>
          <a:prstGeom prst="roundRect">
            <a:avLst>
              <a:gd name="adj" fmla="val 7500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C8DC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030720" y="508127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video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视频处理 / 运动估计 / 目标跟踪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062720" y="4954270"/>
            <a:ext cx="1905000" cy="1016000"/>
          </a:xfrm>
          <a:prstGeom prst="roundRect">
            <a:avLst>
              <a:gd name="adj" fmla="val 7500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C8DC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126220" y="508127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calib3d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相机标定 / 立体视觉 / 三维重建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图像处理基础操作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1336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图像读写与显示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核心操作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完成图像数据的读取、窗口可视化显示与本地文件的保存。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关键函数</a:t>
            </a:r>
            <a:endParaRPr lang="en-US" sz="1400" b="1" i="0" u="none" strike="noStrike">
              <a:solidFill>
                <a:srgbClr val="007B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读取：</a:t>
            </a:r>
            <a:r>
              <a:rPr lang="en-US" sz="12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cv2.imread()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显示：</a:t>
            </a:r>
            <a:r>
              <a:rPr lang="en-US" sz="12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cv2.imshow()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保存：</a:t>
            </a:r>
            <a:r>
              <a:rPr lang="en-US" sz="12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cv2.imwrite()</a:t>
            </a:r>
            <a:endParaRPr lang="en-US" sz="1200" b="1" i="0" u="none" strike="noStrike">
              <a:solidFill>
                <a:srgbClr val="D9302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注意事项</a:t>
            </a:r>
            <a:endParaRPr lang="en-US" sz="1400" b="1" i="0" u="none" strike="noStrike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OpenCV的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imread()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默认读取图像为</a:t>
            </a:r>
            <a:r>
              <a:rPr lang="en-US" sz="12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BGR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色彩通道顺序，与常见的RGB顺序不同，在跨库操作时需特别注意转换。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159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32400" y="21336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色彩空间转换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核心操作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将图像数据在不同的色彩模型（如RGB、灰度、HSV等）之间进行相互转换，以适应不同的算法需求。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关键函数</a:t>
            </a:r>
            <a:endParaRPr lang="en-US" sz="1400" b="1" i="0" u="none" strike="noStrike">
              <a:solidFill>
                <a:srgbClr val="007B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通用转换接口：</a:t>
            </a:r>
            <a:r>
              <a:rPr lang="en-US" sz="1200" b="1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cv2.cvtColor(img, flag)</a:t>
            </a:r>
            <a:endParaRPr lang="en-US" sz="1200" b="1" i="0" u="none" strike="noStrike">
              <a:solidFill>
                <a:srgbClr val="D9302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常用转换参数</a:t>
            </a:r>
            <a:endParaRPr lang="en-US" sz="1400" b="1" i="0" u="none" strike="noStrike">
              <a:solidFill>
                <a:srgbClr val="007B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转灰度图: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COLOR_BGR2GRAY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转HSV空间: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COLOR_BGR2HSV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转RGB (适配Matplotlib):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COLOR_BGR2RGB</a:t>
            </a:r>
            <a:endParaRPr lang="en-US" sz="1200" b="1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159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915400" y="2133600"/>
            <a:ext cx="2159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几何变换操作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2921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核心操作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改变图像的物理尺寸、位置或角度，以实现对齐、标准化或聚焦关键区域的目的。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常用方法与函数</a:t>
            </a:r>
            <a:endParaRPr lang="en-US" sz="1400" b="1" i="0" u="none" strike="noStrike">
              <a:solidFill>
                <a:srgbClr val="007B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裁剪: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直接使用 NumPy 数组切片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img_crop = img[y1:y2, x1:x2]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缩放: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调整尺寸</a:t>
            </a:r>
            <a:r>
              <a:rPr lang="en-US" sz="1200" b="0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cv2.resize()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旋转: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角度变换</a:t>
            </a:r>
            <a:r>
              <a:rPr lang="en-US" sz="1200" b="0" i="0" u="none" strike="noStrike">
                <a:solidFill>
                  <a:srgbClr val="D9302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cv2.rotate()</a:t>
            </a:r>
            <a:endParaRPr lang="en-US" sz="1200" b="0" i="0" u="none" strike="noStrike">
              <a:solidFill>
                <a:srgbClr val="D9302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核心技术：图像滤波与降噪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滤波核心目的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去除图像采集或传输过程中的噪声、平滑像素过渡，或增强边缘与纹理细节，是计算机视觉任务的基础预处理步骤。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2921000"/>
            <a:ext cx="4699000" cy="1016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50800" cy="1016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06500" y="304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高斯滤波 (cv2.GaussianBlur)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</a:t>
            </a:r>
            <a:r>
              <a:rPr lang="en-US" sz="12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效果：</a:t>
            </a: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有效抑制符合正态分布的“高斯噪声”。</a:t>
            </a:r>
            <a:r>
              <a:rPr lang="en-US" sz="12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</a:t>
            </a: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通用图像模糊、降低高频干扰。</a:t>
            </a:r>
            <a:endParaRPr lang="en-US" sz="12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4064000"/>
            <a:ext cx="4699000" cy="1016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4064000"/>
            <a:ext cx="508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06500" y="419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中值滤波 (cv2.medianBlur)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</a:t>
            </a:r>
            <a:r>
              <a:rPr lang="en-US" sz="12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效果：</a:t>
            </a: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去除黑白相间的“椒盐噪声”效果显著。</a:t>
            </a:r>
            <a:r>
              <a:rPr lang="en-US" sz="12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</a:t>
            </a: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扫描文档去噪、老照片修复。</a:t>
            </a:r>
            <a:endParaRPr lang="en-US" sz="12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5207000"/>
            <a:ext cx="4699000" cy="1016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5207000"/>
            <a:ext cx="50800" cy="1016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206500" y="5334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双边滤波 (cv2.bilateralFilter)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</a:t>
            </a:r>
            <a:r>
              <a:rPr lang="en-US" sz="12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效果：</a:t>
            </a: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实现“边缘保留平滑”，去噪同时维持轮廓清晰。</a:t>
            </a:r>
            <a:r>
              <a:rPr lang="en-US" sz="12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</a:t>
            </a: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人像美颜、磨皮。</a:t>
            </a:r>
            <a:endParaRPr lang="en-US" sz="12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222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905000"/>
            <a:ext cx="2349500" cy="1968500"/>
          </a:xfrm>
          <a:prstGeom prst="roundRect">
            <a:avLst>
              <a:gd name="adj" fmla="val 387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67500" y="2159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2159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📸 原始图像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包含明显的随机噪点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（如高斯/椒盐噪声）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细节被干扰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953500" y="1905000"/>
            <a:ext cx="2349500" cy="1968500"/>
          </a:xfrm>
          <a:prstGeom prst="roundRect">
            <a:avLst>
              <a:gd name="adj" fmla="val 387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0" y="2159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715500" y="2159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🌫️ 高斯滤波后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整体变得模糊柔和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噪点被均匀淡化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边缘细节有所丢失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77000" y="4064000"/>
            <a:ext cx="2349500" cy="1968500"/>
          </a:xfrm>
          <a:prstGeom prst="roundRect">
            <a:avLst>
              <a:gd name="adj" fmla="val 387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3180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239000" y="4318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🧹 中值滤波后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椒盐噪点被有效清除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图像变得更干净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适合处理颗粒感强的图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953500" y="4064000"/>
            <a:ext cx="2349500" cy="1968500"/>
          </a:xfrm>
          <a:prstGeom prst="roundRect">
            <a:avLst>
              <a:gd name="adj" fmla="val 3870"/>
            </a:avLst>
          </a:prstGeom>
          <a:solidFill>
            <a:srgbClr val="FFFB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43180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715500" y="4318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双边滤波后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噪点被平滑去除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同时物体边缘依然锐利清晰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最具“美感”的去噪方式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核心技术：边缘检测与形态学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714500"/>
            <a:ext cx="2667000" cy="1905000"/>
          </a:xfrm>
          <a:prstGeom prst="roundRect">
            <a:avLst>
              <a:gd name="adj" fmla="val 5333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8796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边缘检测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Edge Detection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43000" y="2667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提取图像中物体的轮廓，是计算机视觉中进行特征提取与物体识别的重要基础步骤。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0" y="1714500"/>
            <a:ext cx="3683000" cy="1905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500" y="190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445000" y="1879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Canny 边缘检测 (cv2.Canny)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000500" y="2540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优势：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效果最优秀、应用最广泛，被誉为“最优”边缘检测算法。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参数：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需设置高低两个阈值，建议比值为 1:2 或 1:3。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83500" y="1714500"/>
            <a:ext cx="3556000" cy="1905000"/>
          </a:xfrm>
          <a:prstGeom prst="roundRect">
            <a:avLst>
              <a:gd name="adj" fmla="val 4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4000" y="1905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820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Sobel 算子 (cv2.Sobel)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254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📐 核心作用：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通过卷积运算，分别计算图像在水平 (X) 和垂直 (Y) 方向的像素灰度“梯度”，以此来凸显边缘。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10668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4254500"/>
            <a:ext cx="2667000" cy="2032000"/>
          </a:xfrm>
          <a:prstGeom prst="roundRect">
            <a:avLst>
              <a:gd name="adj" fmla="val 500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444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4196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形态学操作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Morphological Ops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143000" y="5207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基于“结构元素”对二值图像进行形状变换。常用于去噪、分离物体、连接区域及填充空洞。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810000" y="4254500"/>
            <a:ext cx="15875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3873500" y="43815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腐蚀 Erosion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消除物体边界点，去除小的亮噪点，使物体“变瘦”。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524500" y="4254500"/>
            <a:ext cx="15875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588000" y="43815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膨胀 Dilation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向物体边界添加点，填补小空洞，使物体“变胖”。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239000" y="4254500"/>
            <a:ext cx="15875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302500" y="43815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开运算 Opening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先腐蚀后膨胀。去除小的亮物体，平滑边界且不改变面积。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953500" y="4254500"/>
            <a:ext cx="1587500" cy="1270000"/>
          </a:xfrm>
          <a:prstGeom prst="roundRect">
            <a:avLst>
              <a:gd name="adj" fmla="val 600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017000" y="43815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闭运算 Closing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先膨胀后腐蚀。填充内部小空洞，连接邻近物体。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3810000" y="5651500"/>
            <a:ext cx="6731000" cy="635000"/>
          </a:xfrm>
          <a:prstGeom prst="roundRect">
            <a:avLst>
              <a:gd name="adj" fmla="val 12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0500" y="5816600"/>
            <a:ext cx="254000" cy="254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4381500" y="5753100"/>
            <a:ext cx="609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 关键函数：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cv2.erode() · cv2.dilate() · cv2.morphologyEx()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核心技术：图像分割与轮廓分析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006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阈值分割 (Thresholding)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目的：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将图像中的像素分为前景和背景两类，是基础的分割手段。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全局阈值：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适合光照均匀的场景，通过设定单一阈值区分目标。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自适应阈值：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</a:t>
            </a: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局部光照不均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的图像，计算不同区域的阈值，效果更佳。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4254500"/>
            <a:ext cx="5080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508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4483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轮廓检测 (Contour Detection)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143500"/>
            <a:ext cx="457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目的：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在二值化图像中精准查找并提取物体的边缘轮廓。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关键操作：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`cv2.findContours()` 获取所有轮廓。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轮廓分析：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计算轮廓的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面积、周长、外接矩形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等几何特征，实现对物体的量化描述与识别。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27305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BF0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27305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159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21336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1: 原始图像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984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包含丰富色彩和纹理的输入图像，作为算法处理的起点。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0" y="1778000"/>
            <a:ext cx="27305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BF0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44000" y="1778000"/>
            <a:ext cx="27305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98000" y="2159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033000" y="21336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2: 灰度转换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98000" y="2984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将彩色图像转为单通道灰度图，减少计算量，为后续分割做准备。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191000"/>
            <a:ext cx="27305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BF0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23000" y="4191000"/>
            <a:ext cx="27305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5720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45466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3: 二值化处理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5397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应用自适应阈值算法，将图像转化为黑白二值图，突出主体与背景的差异。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44000" y="4191000"/>
            <a:ext cx="27305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EBF0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144000" y="4191000"/>
            <a:ext cx="27305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8000" y="4572000"/>
            <a:ext cx="457200" cy="457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0033000" y="45466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4: 轮廓绘制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398000" y="5397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检测并标记出物体轮廓，直观展示识别结果，为进一步分析提供基础。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高级技术：透视变换与特征匹配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33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透视变换</a:t>
            </a:r>
            <a:r>
              <a:rPr 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Perspective Transformation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核心目的：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校正倾斜或畸变的图像，将任意形状的四边形投影变换为规则的矩形，还原真实比例。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典型应用：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手机文档扫描、车牌识别、卫星地图纠正、增强现实(AR)的图像对齐。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实现步骤：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标记源图像4个关键点 → 2. 定义目标矩形4个点 → 3. 计算单应性矩阵 M → 4. 调用 cv2.warpPerspective() 完成变换。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159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2133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特征检测与匹配</a:t>
            </a:r>
            <a:r>
              <a:rPr lang="en-US" sz="16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Feature Matching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921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核心目的：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跨越视角、光照、尺度变化，在多张不同图像中定位同一个物理特征点，建立像素间的对应关系。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937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🧩 主流算法：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ORB (Oriented FAST and Rotated BRIEF)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：高效、开源免费，性能优于专利算法 SIFT/SURF。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⚙️ 实现步骤：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detectAndCompute() 检测关键点并计算描述符 → 2. BFMatcher 暴力匹配寻找对应点 → 3. 过滤误匹配 (如Ratio Test)。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工程化实践与优化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828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0574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代码优化技巧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794000"/>
            <a:ext cx="45974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数据类型优化：</a:t>
            </a: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优先使用 np.uint8 等紧凑类型，避免不必要的高精度浮点运算和类型转换开销。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内存预分配：</a:t>
            </a: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在循环前提前创建输出数组，避免在迭代中频繁分配和释放内存，提升IO效率。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并行与硬件加速：</a:t>
            </a: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cv2.setNumThreads() 启用多线程，并利用 cv2.cuda 模块释放GPU算力。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ROI 感兴趣区域：</a:t>
            </a: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精准定位目标区域，仅对关键像素区域进行计算，大幅减少无效计算量。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0828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35800" y="20574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常见问题与解决方案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27800" y="2794000"/>
            <a:ext cx="45974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spcBef>
                <a:spcPts val="800"/>
              </a:spcBef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❓ 图像读取失败：</a:t>
            </a: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检查文件路径合法性，建议使用项目根目录下的绝对路径进行读取，避免相对路径错误。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400"/>
              </a:spcBef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❓ 色彩显示异常：</a:t>
            </a: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 读取图像默认是 BGR 色彩通道顺序，使用 Matplotlib 等库显示前需先转换为 RGB。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400"/>
              </a:spcBef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❓ 边缘检测效果差：</a:t>
            </a: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需先进行滤波降噪处理，去除高频噪声干扰，并根据图像对比度动态调整 Canny 算子的高低阈值。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400"/>
              </a:spcBef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❓ 轮廓检测不完整：</a:t>
            </a: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优化二值化的阈值参数，或使用膨胀、腐蚀等形态学操作连接断裂区域，增强连通性。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应用场景与发展趋势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" y="20828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典型应用领域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66800" y="2667000"/>
            <a:ext cx="508000" cy="381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3048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30226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工业视觉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缺陷检测 | 尺寸测量 | 产品分拣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3873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8481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医疗影像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病灶识别 | 医学图像增强与分析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699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6736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智能交通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车牌识别 | 交通标志检测 | 违章抓拍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800" y="5524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54991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安防与AR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人脸识别/异常行为检测 | 特征跟踪/虚拟叠加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27800" y="20828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技术发展趋势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27800" y="2667000"/>
            <a:ext cx="508000" cy="381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7800" y="3048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29972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深度学习深度融合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DNN模块支持直接部署TensorFlow/PyTorch模型，实现传统算法与深度学习的优势互补。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27800" y="4000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39497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极致的实时性与硬件优化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结合CUDA/OpenCL硬件加速与轻量化算法，赋能边缘端设备实现毫秒级实时处理。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27800" y="5080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5029200"/>
            <a:ext cx="406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多模态感知与3D视觉增强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从单一图像向融合RGB、深度、红外等多源数据扩展；从传统2D处理向点云、3D重建领域延伸。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总结与学习路径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0828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057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794000"/>
            <a:ext cx="4597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OpenCV是计算机视觉领域的必备工具，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提供了从基础到高级的完整技术栈，是连接理论与应用的重要桥梁。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掌握核心算法是解决问题的关键，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熟练运用滤波、边缘检测、形态学与图像分割等技术，构建坚实算法基础。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工程化思维是进阶的必经之路，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注重代码的性能优化与复杂场景下的问题排查，实现从“跑通”到“好用”的跨越。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0828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35800" y="2057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五阶进阶路径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27800" y="2794000"/>
            <a:ext cx="4597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基础阶段：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熟悉图像读写、色彩空间转换与基础几何变换操作。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核心阶段：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深入理解并掌握滤波降噪、边缘检测与形态学处理的原理与应用。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高级阶段：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学习透视变换、轮廓检测与特征匹配等复杂场景技术。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工程阶段：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完成文档扫描、目标追踪等实战项目，积累工程落地经验。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拓展阶段：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结合深度学习模型，探索工业质检、自动驾驶等前沿方向。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0" y="5778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3743</Words>
  <Application>WPS 演示</Application>
  <PresentationFormat/>
  <Paragraphs>230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阿武</cp:lastModifiedBy>
  <cp:revision>4</cp:revision>
  <dcterms:created xsi:type="dcterms:W3CDTF">2026-05-23T14:17:33Z</dcterms:created>
  <dcterms:modified xsi:type="dcterms:W3CDTF">2026-05-23T14:19:40Z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8FA374D221D74DF1BDDAE9B5E7C49E14_12</vt:lpwstr>
  </property>
  <property fmtid="{D5CDD505-2E9C-101B-9397-08002B2CF9AE}" pid="3" name="KSOProductBuildVer">
    <vt:lpwstr>2052-12.1.0.26375</vt:lpwstr>
  </property>
</Properties>
</file>