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大家好，今天我们将深入探讨在线教育领域的核心技术——WebRTC。我们将重点解析两种主流的解决方案：高互动性的小班课和支持大规模并发的大班课，帮助大家理解其背后的技术原理和选型策略。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分享将分为四个部分。首先，我们将深入了解小班课的技术核心。接着，探讨大班课如何实现大规模并发。然后，我们会对两种方案进行对比，并给出选型建议。最后，对WebRTC在在线教育中的核心价值进行总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首先来看小班课。它的核心是高互动性，就像我们看到的这个界面，老师和学生可以实时视频互动。这种场景对延迟要求极高，同时需要支持丰富的个性化教学功能，比如屏幕共享和互动白板。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支撑小班课高互动性的核心技术是SFU架构。如这张图所示，每个用户只需要上传自己的视频流到SFU服务器，服务器再智能地将这些流分发给其他用户。这种方式避免了复杂的视频混合，因此延迟极低，服务器成本也更低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适应不同学生的网络状况，SFU架构通常会采用两种技术。一种是Simulcast，发送端同时发送高、中、低三种画质的视频流，SFU根据学生的网络情况选择最合适的一路。另一种是SVC，更先进，发送端只发一个流，SFU可以动态调整画质，更节省发送端资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接下来我们看大班课。它的特点是人数多，通常以老师单向授课为主，互动形式相对简单，比如弹幕和偶尔的连麦。核心挑战在于如何支持海量用户同时稳定、流畅地观看直播。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班课的解决方案是一种混合架构。老师通过WebRTC进行低延迟直播，然后这个视频流会被实时转码并推送到CDN网络。绝大多数学生通过CDN观看，保证了大规模并发。当有学生需要互动时，再为他临时建立一个WebRTC连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张表格清晰地对比了两种方案。小班课的优势在于极低的延迟和极高的互动性，但成本较高，并发能力有限。而大班课通过结合CDN，实现了极高的并发能力和较低的单位成本，但观众端的延迟较高，互动性有限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那么如何选择呢？简单来说，如果你的课程需要频繁的、深度的互动，比如1对1辅导或小班讨论，就选择小班课方案。如果你的目标是向大量学生普及知识，比如公开课，那么大班课方案是更经济、高效的选择。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我的分享到此结束。WebRTC技术为在线教育带来了极致的互动体验和灵活的架构选择。希望今天的内容能帮助大家更好地理解和应用这些技术。现在是问答环节，欢迎大家提问。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0.jpeg"/><Relationship Id="rId7" Type="http://schemas.openxmlformats.org/officeDocument/2006/relationships/image" Target="../media/image9.svg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5.jpe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5.svg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svg"/><Relationship Id="rId8" Type="http://schemas.openxmlformats.org/officeDocument/2006/relationships/image" Target="../media/image32.png"/><Relationship Id="rId7" Type="http://schemas.openxmlformats.org/officeDocument/2006/relationships/image" Target="../media/image31.svg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svg"/><Relationship Id="rId8" Type="http://schemas.openxmlformats.org/officeDocument/2006/relationships/image" Target="../media/image38.png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31.svg"/><Relationship Id="rId16" Type="http://schemas.openxmlformats.org/officeDocument/2006/relationships/image" Target="../media/image30.png"/><Relationship Id="rId15" Type="http://schemas.openxmlformats.org/officeDocument/2006/relationships/image" Target="../media/image45.svg"/><Relationship Id="rId14" Type="http://schemas.openxmlformats.org/officeDocument/2006/relationships/image" Target="../media/image44.png"/><Relationship Id="rId13" Type="http://schemas.openxmlformats.org/officeDocument/2006/relationships/image" Target="../media/image43.svg"/><Relationship Id="rId12" Type="http://schemas.openxmlformats.org/officeDocument/2006/relationships/image" Target="../media/image42.png"/><Relationship Id="rId11" Type="http://schemas.openxmlformats.org/officeDocument/2006/relationships/image" Target="../media/image41.svg"/><Relationship Id="rId10" Type="http://schemas.openxmlformats.org/officeDocument/2006/relationships/image" Target="../media/image40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53.svg"/><Relationship Id="rId8" Type="http://schemas.openxmlformats.org/officeDocument/2006/relationships/image" Target="../media/image52.png"/><Relationship Id="rId7" Type="http://schemas.openxmlformats.org/officeDocument/2006/relationships/image" Target="../media/image51.svg"/><Relationship Id="rId6" Type="http://schemas.openxmlformats.org/officeDocument/2006/relationships/image" Target="../media/image50.png"/><Relationship Id="rId5" Type="http://schemas.openxmlformats.org/officeDocument/2006/relationships/image" Target="../media/image49.svg"/><Relationship Id="rId4" Type="http://schemas.openxmlformats.org/officeDocument/2006/relationships/image" Target="../media/image48.png"/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57.svg"/><Relationship Id="rId12" Type="http://schemas.openxmlformats.org/officeDocument/2006/relationships/image" Target="../media/image56.png"/><Relationship Id="rId11" Type="http://schemas.openxmlformats.org/officeDocument/2006/relationships/image" Target="../media/image55.svg"/><Relationship Id="rId10" Type="http://schemas.openxmlformats.org/officeDocument/2006/relationships/image" Target="../media/image54.png"/><Relationship Id="rId1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在线教育WebRTC解决方案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42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0" i="0" u="none" strike="noStrike" spc="200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小班课与大班课架构详解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4318000"/>
            <a:ext cx="1524000" cy="50800"/>
          </a:xfrm>
          <a:prstGeom prst="roundRect">
            <a:avLst>
              <a:gd name="adj" fmla="val 0"/>
            </a:avLst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</a:t>
            </a:r>
            <a:r>
              <a:rPr lang="en-US" sz="2000" b="0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1270000" cy="1905000"/>
          </a:xfrm>
          <a:prstGeom prst="roundRect">
            <a:avLst>
              <a:gd name="adj" fmla="val 16000"/>
            </a:avLst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095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286000" y="1968500"/>
            <a:ext cx="342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小班课解决方案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000" y="2540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聚焦高互动场景的技术核心，深度解析实时音视频在1v1及小班教学中的低延迟传输与双向互动机制。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937000"/>
            <a:ext cx="5207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937000"/>
            <a:ext cx="1270000" cy="1905000"/>
          </a:xfrm>
          <a:prstGeom prst="roundRect">
            <a:avLst>
              <a:gd name="adj" fmla="val 16000"/>
            </a:avLst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4381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286000" y="4254500"/>
            <a:ext cx="342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大班课解决方案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286000" y="4826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探索大规模并发的实现路径，深入探讨MCU架构、智能流控技术如何支撑万人大班场景下的音视频同步。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651000"/>
            <a:ext cx="5207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223000" y="1651000"/>
            <a:ext cx="1270000" cy="1905000"/>
          </a:xfrm>
          <a:prstGeom prst="roundRect">
            <a:avLst>
              <a:gd name="adj" fmla="val 16000"/>
            </a:avLst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223000" y="2095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747000" y="1968500"/>
            <a:ext cx="342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方案对比与选型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747000" y="2540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如何做出最佳技术决策？从业务场景适配、服务器成本控制、开发技术门槛三个维度进行全方位分析。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3937000"/>
            <a:ext cx="5207000" cy="1905000"/>
          </a:xfrm>
          <a:prstGeom prst="roundRect">
            <a:avLst>
              <a:gd name="adj" fmla="val 10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23000" y="3937000"/>
            <a:ext cx="1270000" cy="1905000"/>
          </a:xfrm>
          <a:prstGeom prst="roundRect">
            <a:avLst>
              <a:gd name="adj" fmla="val 16000"/>
            </a:avLst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23000" y="4381500"/>
            <a:ext cx="127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747000" y="4254500"/>
            <a:ext cx="342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总结与展望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747000" y="4826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回顾WebRTC在教育领域的技术演进历程，展望其在未来沉浸式教学、元宇宙课堂等新场景中的核心价值。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小班课解决方案：定义与特点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1206500"/>
          </a:xfrm>
          <a:prstGeom prst="roundRect">
            <a:avLst>
              <a:gd name="adj" fmla="val 12631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6764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什么是小班课？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57400"/>
            <a:ext cx="457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通常指人数在几十人以下（如1v1、1v6、1v15）的高互动性在线课堂，是连接“一对一”和“大班课”的核心形态。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5080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111500"/>
            <a:ext cx="762000" cy="762000"/>
          </a:xfrm>
          <a:prstGeom prst="ellipse">
            <a:avLst/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32639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032000" y="30734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高互动性教学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32000" y="34544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支持师生/生生间频繁的音视频连麦、实时文字问答与小组协作讨论，模拟线下课堂氛围。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254500"/>
            <a:ext cx="5080000" cy="1143000"/>
          </a:xfrm>
          <a:prstGeom prst="roundRect">
            <a:avLst>
              <a:gd name="adj" fmla="val 13333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4445000"/>
            <a:ext cx="762000" cy="762000"/>
          </a:xfrm>
          <a:prstGeom prst="ellipse">
            <a:avLst/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400" y="45974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2032000" y="4406900"/>
            <a:ext cx="355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毫秒级低延迟要求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032000" y="47879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实时互动是核心体验指标，需确保音视频流无卡顿、无明显延迟，保障教学过程的连贯性。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588000"/>
            <a:ext cx="5080000" cy="1016000"/>
          </a:xfrm>
          <a:prstGeom prst="roundRect">
            <a:avLst>
              <a:gd name="adj" fmla="val 15000"/>
            </a:avLst>
          </a:prstGeom>
          <a:solidFill>
            <a:srgbClr val="FFFFFF">
              <a:alpha val="92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715000"/>
            <a:ext cx="762000" cy="762000"/>
          </a:xfrm>
          <a:prstGeom prst="ellipse">
            <a:avLst/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400" y="5867400"/>
            <a:ext cx="457200" cy="4572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2032000" y="56896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灵活的个性化体验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032000" y="6019800"/>
            <a:ext cx="355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92000"/>
              </a:lnSpc>
              <a:defRPr/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支持分组PK、屏幕共享、互动白板等多样化工具，满足不同学科的差异化教学需求。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096000" y="1524000"/>
            <a:ext cx="5207000" cy="4953000"/>
          </a:xfrm>
          <a:prstGeom prst="roundRect">
            <a:avLst>
              <a:gd name="adj" fmla="val 410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304800" dist="101600" dir="27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rcRect l="17013" r="17013"/>
          <a:stretch>
            <a:fillRect/>
          </a:stretch>
        </p:blipFill>
        <p:spPr>
          <a:xfrm>
            <a:off x="6286500" y="1714500"/>
            <a:ext cx="4826000" cy="4572000"/>
          </a:xfrm>
          <a:prstGeom prst="roundRect">
            <a:avLst>
              <a:gd name="adj" fmla="val 3333"/>
            </a:avLst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小班课核心架构：基于SFU的解决方案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1778000"/>
          </a:xfrm>
          <a:prstGeom prst="roundRect">
            <a:avLst>
              <a:gd name="adj" fmla="val 857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14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核心工作原理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225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SFU (Selective Forwarding Unit) 扮演“智能路由器”角色。每个参与者仅向SFU发送一路音视频流，服务器再根据订阅关系，智能且有选择性地将媒体流转发给其他参与者。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5080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1016000" y="3746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技术架构优势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4572000" cy="762000"/>
          </a:xfrm>
          <a:prstGeom prst="roundRect">
            <a:avLst>
              <a:gd name="adj" fmla="val 13333"/>
            </a:avLst>
          </a:prstGeom>
          <a:solidFill>
            <a:srgbClr val="6E7C6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44958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78000" y="4419600"/>
            <a:ext cx="368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极致低延迟 &lt; 50ms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无需编解码混合，仅做数据包路由转发，响应迅速。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6000" y="5207000"/>
            <a:ext cx="4572000" cy="762000"/>
          </a:xfrm>
          <a:prstGeom prst="roundRect">
            <a:avLst>
              <a:gd name="adj" fmla="val 13333"/>
            </a:avLst>
          </a:prstGeom>
          <a:solidFill>
            <a:srgbClr val="6E7C67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5384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78000" y="5308600"/>
            <a:ext cx="3683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服务器资源高效利用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相比MCU架构，CPU占用大幅降低，带宽成本更优。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6096000" y="1524000"/>
            <a:ext cx="5334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6350000" y="1714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WebRTC SFU 数据流架构示意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rcRect l="7589" r="7589"/>
          <a:stretch>
            <a:fillRect/>
          </a:stretch>
        </p:blipFill>
        <p:spPr>
          <a:xfrm>
            <a:off x="6350000" y="2286000"/>
            <a:ext cx="4826000" cy="355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  <a:effectLst>
            <a:outerShdw blurRad="127000" dist="25400" dir="2700000" algn="tl" rotWithShape="0">
              <a:srgbClr val="000000">
                <a:alpha val="1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小班课关键技术：Simulcast vs. SVC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889000"/>
          </a:xfrm>
          <a:prstGeom prst="roundRect">
            <a:avLst>
              <a:gd name="adj" fmla="val 17142"/>
            </a:avLst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14500" y="1841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Simulcast (联播)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3F5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206500" y="2921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核心原理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206500" y="3302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发送端同时编码并发送多个不同分辨率/帧率的视频流（高、中、低），接收端按需选择。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016000" y="40005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3F5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1206500" y="4127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主要优势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206500" y="45085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兼容性极佳，客户端实现逻辑简单，无需复杂的解码器支持。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1435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3F5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206500" y="5270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潜在不足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06500" y="56515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消耗发送端更多的 CPU 算力和上行带宽资源，带宽压力较大。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651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635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5207000" cy="889000"/>
          </a:xfrm>
          <a:prstGeom prst="roundRect">
            <a:avLst>
              <a:gd name="adj" fmla="val 17142"/>
            </a:avLst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8415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175500" y="18415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SVC (可伸缩视频编码)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2794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F3F5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667500" y="29210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核心原理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667500" y="33020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发送端将视频编码成一个包含基础层+增强层的单一码流，网络侧可灵活裁剪层级。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40005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3F5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667500" y="4127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主要优势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667500" y="45085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大幅节省发送端资源，对带宽变化的适应更灵活、更快速，抗网络抖动能力强。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77000" y="5143500"/>
            <a:ext cx="4699000" cy="1016000"/>
          </a:xfrm>
          <a:prstGeom prst="roundRect">
            <a:avLst>
              <a:gd name="adj" fmla="val 10000"/>
            </a:avLst>
          </a:prstGeom>
          <a:solidFill>
            <a:srgbClr val="F3F5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667500" y="5270500"/>
            <a:ext cx="431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潜在不足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667500" y="5651500"/>
            <a:ext cx="431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编码器支持度相对有限，对 SFU 服务器的转发逻辑和处理能力要求更高。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大班课解决方案：定义与特点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270000"/>
          </a:xfrm>
          <a:prstGeom prst="roundRect">
            <a:avLst>
              <a:gd name="adj" fmla="val 12000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6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101600" cy="1270000"/>
          </a:xfrm>
          <a:prstGeom prst="roundRect">
            <a:avLst>
              <a:gd name="adj" fmla="val 150000"/>
            </a:avLst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43000" y="17145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2413000" y="1752600"/>
            <a:ext cx="863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大班课通常指上百人甚至上千人的课堂，教学模式以教师单向讲授为主，是在线教育中覆盖面最广、成本效益比最高的课程形态之一。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3175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429000"/>
            <a:ext cx="711200" cy="711200"/>
          </a:xfrm>
          <a:prstGeom prst="ellipse">
            <a:avLst/>
          </a:prstGeom>
          <a:solidFill>
            <a:srgbClr val="6E7C6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35814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905000" y="35560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高并发架构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381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系统需具备强大的吞吐能力，稳定支持海量用户同时在线观看、低延迟加载，保障万人级并发下的流畅体验。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3175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99000" y="3429000"/>
            <a:ext cx="711200" cy="711200"/>
          </a:xfrm>
          <a:prstGeom prst="ellipse">
            <a:avLst/>
          </a:prstGeom>
          <a:solidFill>
            <a:srgbClr val="6E7C6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1400" y="35814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588000" y="35560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单向广播为主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99000" y="4381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核心教学内容由教师端统一向所有学生端分发，画面和声音实时同步，保证信息传递的一致性与高效率。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128000" y="3175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762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382000" y="3429000"/>
            <a:ext cx="711200" cy="711200"/>
          </a:xfrm>
          <a:prstGeom prst="ellipse">
            <a:avLst/>
          </a:prstGeom>
          <a:solidFill>
            <a:srgbClr val="6E7C67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0" y="35814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271000" y="3556000"/>
            <a:ext cx="1905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轻量化互动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382000" y="43815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提供低带宽消耗的互动形式，如文字弹幕、实时举手连麦、在线随堂答题等，活跃课堂氛围且不影响核心直播流。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大班课核心架构：WebRTC互动 + CDN分发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79500" y="2032000"/>
            <a:ext cx="1016000" cy="1016000"/>
          </a:xfrm>
          <a:prstGeom prst="ellipse">
            <a:avLst/>
          </a:prstGeom>
          <a:solidFill>
            <a:srgbClr val="6E7C67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33500" y="2286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2413000" y="190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教师端推流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413000" y="2413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教师通过WebRTC协议进行低延迟采集与推流，将音视频信号实时传输至信源服务器，确保源头画面的实时性。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540500" y="2032000"/>
            <a:ext cx="1016000" cy="1016000"/>
          </a:xfrm>
          <a:prstGeom prst="ellipse">
            <a:avLst/>
          </a:prstGeom>
          <a:solidFill>
            <a:srgbClr val="6E7C67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94500" y="2286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874000" y="1905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信源实时转封装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874000" y="2413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信源站将WebRTC流实时转封装为HLS/HTTP-FLV协议，推送到全球CDN节点，利用CDN强大的分发能力承载大规模用户。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1079500" y="4445000"/>
            <a:ext cx="1016000" cy="1016000"/>
          </a:xfrm>
          <a:prstGeom prst="ellipse">
            <a:avLst/>
          </a:prstGeom>
          <a:solidFill>
            <a:srgbClr val="6E7C67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33500" y="4699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2413000" y="431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观众模式 (高并发)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2413000" y="4826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99%的普通学生通过CDN以HLS/HTTP-FLV协议拉流观看，利用CDN的边缘节点就近服务，保证大规模并发下的播放流畅度。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223000" y="3937000"/>
            <a:ext cx="5207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905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540500" y="4445000"/>
            <a:ext cx="1016000" cy="1016000"/>
          </a:xfrm>
          <a:prstGeom prst="ellipse">
            <a:avLst/>
          </a:prstGeom>
          <a:solidFill>
            <a:srgbClr val="6E7C67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94500" y="46990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874000" y="4318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互动模式 (低延迟)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874000" y="4826000"/>
            <a:ext cx="330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当学生需要连麦互动时，系统会临时将其切换至WebRTC直连模式，实现秒级低延迟的音视频双向互动体验。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方案对比矩阵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5207000" cy="4953000"/>
          </a:xfrm>
          <a:prstGeom prst="roundRect">
            <a:avLst>
              <a:gd name="adj" fmla="val 410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207000" cy="889000"/>
          </a:xfrm>
          <a:prstGeom prst="roundRect">
            <a:avLst>
              <a:gd name="adj" fmla="val 22857"/>
            </a:avLst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587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小班课 (SFU 实时架构)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413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5F7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6500" y="25654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841500" y="24892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 | 实时通信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 WebRTC 原生协议，端到端低延时直连传输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3302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5F7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6500" y="34544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841500" y="33782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成本结构 | 线性增长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服务器资源消耗大，带宽成本随并发人数线性上升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1016000" y="4191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5F7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6500" y="4343400"/>
            <a:ext cx="457200" cy="4572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841500" y="42672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传输延迟 | 极致低延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延迟</a:t>
            </a:r>
            <a:r>
              <a:rPr lang="en-US" sz="11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&lt; 500ms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，完全满足高频实时互动需求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1016000" y="5080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5F7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06500" y="52959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841500" y="51562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体验与规模 | 深度协作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互动性</a:t>
            </a:r>
            <a:r>
              <a:rPr lang="en-US" sz="11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极高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，支持复杂连麦；适合几十至几百人并发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1397000"/>
            <a:ext cx="5207000" cy="4953000"/>
          </a:xfrm>
          <a:prstGeom prst="roundRect">
            <a:avLst>
              <a:gd name="adj" fmla="val 4102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6223000" y="1397000"/>
            <a:ext cx="5207000" cy="889000"/>
          </a:xfrm>
          <a:prstGeom prst="roundRect">
            <a:avLst>
              <a:gd name="adj" fmla="val 22857"/>
            </a:avLst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477000" y="15875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大班课 (WebRTC + CDN 混合架构)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2413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5F7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2565400"/>
            <a:ext cx="457200" cy="4572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302500" y="24892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核心技术 | 动静结合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主播实时推流 + CDN 全球内容分发网络加速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477000" y="3302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5F7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3454400"/>
            <a:ext cx="457200" cy="457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302500" y="33782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成本结构 | 极致性价比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服务器负载低，海量并发下的单位带宽成本</a:t>
            </a:r>
            <a:r>
              <a:rPr lang="en-US" sz="11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显著降低</a:t>
            </a:r>
            <a:endParaRPr lang="en-US" sz="1100" b="1" i="0" u="none" strike="noStrike">
              <a:solidFill>
                <a:srgbClr val="6E7C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477000" y="4191000"/>
            <a:ext cx="4699000" cy="762000"/>
          </a:xfrm>
          <a:prstGeom prst="roundRect">
            <a:avLst>
              <a:gd name="adj" fmla="val 13333"/>
            </a:avLst>
          </a:prstGeom>
          <a:solidFill>
            <a:srgbClr val="F5F7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7500" y="4343400"/>
            <a:ext cx="457200" cy="4572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302500" y="42672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传输延迟 | 观众容忍度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观众模式延迟</a:t>
            </a:r>
            <a:r>
              <a:rPr lang="en-US" sz="11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2-10s</a:t>
            </a: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，连麦互动模式可降至低延时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6477000" y="5080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F5F7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67500" y="5295900"/>
            <a:ext cx="457200" cy="4572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302500" y="51562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体验与规模 | 海量并发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互动性有限（轻量级），但并发能力</a:t>
            </a:r>
            <a:r>
              <a:rPr lang="en-US" sz="1100" b="1" i="0" u="none" strike="noStrike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理论无限</a:t>
            </a:r>
            <a:endParaRPr lang="en-US" sz="1100" b="1" i="0" u="none" strike="noStrike">
              <a:solidFill>
                <a:srgbClr val="6E7C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选型建议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207000" cy="889000"/>
          </a:xfrm>
          <a:prstGeom prst="roundRect">
            <a:avLst>
              <a:gd name="adj" fmla="val 17142"/>
            </a:avLst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803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选择小班课方案 (SFU)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794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2F4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3111500"/>
            <a:ext cx="508000" cy="508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032000" y="2984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适用核心场景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032000" y="3365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1v1 辅导、VIP 精品小班课（&lt;20人）、沉浸式语言会话、小组项目深度讨论。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445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2F4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4762500"/>
            <a:ext cx="508000" cy="508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032000" y="4635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关键决策依据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032000" y="5016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教学效果高度依赖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实时、高频、低延迟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的师生互动与生生互动时优先选择。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651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032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6223000" y="1651000"/>
            <a:ext cx="5207000" cy="889000"/>
          </a:xfrm>
          <a:prstGeom prst="roundRect">
            <a:avLst>
              <a:gd name="adj" fmla="val 17142"/>
            </a:avLst>
          </a:prstGeom>
          <a:solidFill>
            <a:srgbClr val="6E7C6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1841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112000" y="1803400"/>
            <a:ext cx="4064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选择大班课方案 (WebRTC+CDN)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794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2F4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31000" y="3111500"/>
            <a:ext cx="508000" cy="508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493000" y="2984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适用核心场景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493000" y="3365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行业公开课、名师讲座、K12 同步课堂、面向海量用户的大规模知识普及型课程。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477000" y="4445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F2F4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731000" y="4762500"/>
            <a:ext cx="508000" cy="5080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493000" y="4635500"/>
            <a:ext cx="355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关键决策依据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493000" y="5016500"/>
            <a:ext cx="355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首要目标是保障</a:t>
            </a:r>
            <a:r>
              <a:rPr lang="en-US" sz="12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高并发下的稳定性</a:t>
            </a: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，让尽可能多的学生低成本、流畅地获取教学内容。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286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556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 spc="400">
                <a:solidFill>
                  <a:srgbClr val="6E7C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57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300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2067</Words>
  <Application>WPS 演示</Application>
  <PresentationFormat/>
  <Paragraphs>188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阿武</cp:lastModifiedBy>
  <cp:revision>1</cp:revision>
  <dcterms:created xsi:type="dcterms:W3CDTF">2026-04-17T16:43:29Z</dcterms:created>
  <dcterms:modified xsi:type="dcterms:W3CDTF">2026-04-17T16:43:29Z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F3292FA229D7419AB5F3878E6232C16C_12</vt:lpwstr>
  </property>
  <property fmtid="{D5CDD505-2E9C-101B-9397-08002B2CF9AE}" pid="3" name="KSOProductBuildVer">
    <vt:lpwstr>2052-12.1.0.25225</vt:lpwstr>
  </property>
</Properties>
</file>