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2.svg" ContentType="image/svg+xml"/>
  <Override PartName="/ppt/media/image34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5.svg" ContentType="image/svg+xml"/>
  <Override PartName="/ppt/media/image47.svg" ContentType="image/svg+xml"/>
  <Override PartName="/ppt/media/image50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深入探讨直播技术领域中两种主流协议——WebRTC和RTMP的详细对比。在直播技术体系中，RTMP以其高并发和低成本的优势，长期主导着大规模分发场景；而WebRTC则凭借其超低延迟和强大的互动能力，在实时通信领域迅速崛起。本次分享将从多个维度剖析它们的核心差异，帮助大家在实际项目中做出更合适的技术选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五个部分。首先，我们会明确WebRTC和RTMP的基础定位与设计目标。接着，将深入对比它们在传输协议、延迟、兼容性等核心技术维度的差异。之后，我们会探讨两者在服务端部署和成本方面的考量。第四部分将分析它们在并发能力和承载规模上的表现。最后，我们会总结各自的适用场景，并给出明确的选型建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首先来看两者的基础定位。RTMP由Adobe设计，初衷是为了实现流媒体的稳定分发，核心是利用TCP协议和CDN网络进行大规模、高并发的内容传输，延迟处于中等水平。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而WebRTC是由W3C和IETF标准化的技术，旨在实现浏览器之间的实时互动，它基于UDP协议，通过SFU等架构实现超低延迟的双向通信，对弱网环境有很好的优化。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在实际的技术选型中，我们往往需要在“稳定”与“实时”之间，根据具体的业务场景做出权衡。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核心技术方面，两者的传输层差异巨大。RTMP基于TCP，虽然保证了数据的可靠传输，但丢包重传机制会导致延迟累积和卡顿。而WebRTC基于UDP，通过NACK（否定确认）和FEC（前向纠错）等机制，在保证实时性的前提下处理丢包，并且拥有强大的拥塞控制算法，能根据网络状况动态调整码率，适应性更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延迟是直播的核心差异点。RTMP的延迟通常在1.5秒以上，如果经过转封装分发，延迟会更高，不适合需要实时互动的场景。而WebRTC的延迟可以稳定在1秒以内，这使得它非常适合连麦、PK等强交互场景。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在兼容性方面，WebRTC的优势明显，所有现代浏览器都原生支持，无需安装任何插件，极大地简化了开发和用户体验。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两者的架构模型也截然不同。RTMP采用的是经典的推拉流加CDN分发模式，数据流是单向的，架构简单，易于扩展。而WebRTC则是基于SFU（选择性转发单元）的媒体服务器架构，需要信令服务器交换信息，并通过STUN/TURN服务器进行NAT穿透，天然支持双向通信，但架构相对复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在服务端部署和成本方面，RTMP的优势非常明显。它可以直接利用成熟的CDN网络进行分发，部署简单，运维成本低。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而WebRTC目前没有成熟的CDN解决方案，要实现大规模分发，必须自建SFU集群，这不仅部署复杂，而且服务器成本和运维难度都远高于RTMP方案。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并发能力是两者的另一个关键区别。RTMP借助CDN，可以轻松支持百万甚至千万级别的并发，非常适合大型活动直播等场景。而WebRTC的单台SFU服务器承载能力有限，通常在几千人级别，要支持大规模并发，成本和技术难度都非常高。因此，WebRTC更适合在线教育小班课、视频会议等并发量相对较低但互动性要求高的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适用场景。RTMP是泛娱乐直播、电商带货和大型活动直播的首选，它能以极低的成本满足海量用户的观看需求。而WebRTC则是在线教育、视频会议、实时互动直播等场景的最佳选择，它提供的超低延迟和双向通信能力是这些业务的核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给出选型建议。如果你的业务是高并发、对延迟不敏感且预算有限，RTMP是最佳选择。如果你的业务需要实时互动，对延迟要求极高，那么WebRTC是唯一答案。当然，现在行业主流也采用混合方案，即通过RTMP推流，在服务端转换为WebRTC进行分发，这样可以兼顾推流生态的丰富性和播放端的低延迟体验。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.jpe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svg"/><Relationship Id="rId8" Type="http://schemas.openxmlformats.org/officeDocument/2006/relationships/image" Target="../media/image20.png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15.svg"/><Relationship Id="rId20" Type="http://schemas.openxmlformats.org/officeDocument/2006/relationships/notesSlide" Target="../notesSlides/notesSlide4.xml"/><Relationship Id="rId2" Type="http://schemas.openxmlformats.org/officeDocument/2006/relationships/image" Target="../media/image14.pn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30.jpeg"/><Relationship Id="rId17" Type="http://schemas.openxmlformats.org/officeDocument/2006/relationships/image" Target="../media/image29.svg"/><Relationship Id="rId16" Type="http://schemas.openxmlformats.org/officeDocument/2006/relationships/image" Target="../media/image28.png"/><Relationship Id="rId15" Type="http://schemas.openxmlformats.org/officeDocument/2006/relationships/image" Target="../media/image27.svg"/><Relationship Id="rId14" Type="http://schemas.openxmlformats.org/officeDocument/2006/relationships/image" Target="../media/image26.png"/><Relationship Id="rId13" Type="http://schemas.openxmlformats.org/officeDocument/2006/relationships/image" Target="../media/image25.svg"/><Relationship Id="rId12" Type="http://schemas.openxmlformats.org/officeDocument/2006/relationships/image" Target="../media/image24.png"/><Relationship Id="rId11" Type="http://schemas.openxmlformats.org/officeDocument/2006/relationships/image" Target="../media/image23.svg"/><Relationship Id="rId10" Type="http://schemas.openxmlformats.org/officeDocument/2006/relationships/image" Target="../media/image22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5.jpe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2.jpe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svg"/><Relationship Id="rId8" Type="http://schemas.openxmlformats.org/officeDocument/2006/relationships/image" Target="../media/image49.png"/><Relationship Id="rId7" Type="http://schemas.openxmlformats.org/officeDocument/2006/relationships/image" Target="../media/image48.jpe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2.svg"/><Relationship Id="rId10" Type="http://schemas.openxmlformats.org/officeDocument/2006/relationships/image" Target="../media/image51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jpeg"/><Relationship Id="rId8" Type="http://schemas.openxmlformats.org/officeDocument/2006/relationships/image" Target="../media/image59.svg"/><Relationship Id="rId7" Type="http://schemas.openxmlformats.org/officeDocument/2006/relationships/image" Target="../media/image58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66.svg"/><Relationship Id="rId14" Type="http://schemas.openxmlformats.org/officeDocument/2006/relationships/image" Target="../media/image65.png"/><Relationship Id="rId13" Type="http://schemas.openxmlformats.org/officeDocument/2006/relationships/image" Target="../media/image64.svg"/><Relationship Id="rId12" Type="http://schemas.openxmlformats.org/officeDocument/2006/relationships/image" Target="../media/image63.png"/><Relationship Id="rId11" Type="http://schemas.openxmlformats.org/officeDocument/2006/relationships/image" Target="../media/image62.svg"/><Relationship Id="rId10" Type="http://schemas.openxmlformats.org/officeDocument/2006/relationships/image" Target="../media/image61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3.svg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image" Target="../media/image6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0" y="2286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vs RTMP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0" y="3429000"/>
            <a:ext cx="406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直播技术对比分析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0" y="431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2026年4月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184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基础定位与目标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2413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两种技术的核心设计理念与初衷，明确技术选型起点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524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99000" y="177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715000" y="184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核心技术维度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5000" y="2413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深度对比传输协议、延迟表现、兼容性与底层架构模型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524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82000" y="1778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398000" y="184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部署与成本分析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398000" y="2413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评估服务端部署复杂度、长期运维成本与系统扩展能力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683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40640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286000" y="406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并发能力与承载规模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286000" y="46990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分析在高并发直播场景下的系统承载上限与边际成本差异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3683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40640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747000" y="406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适用场景与选型建议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747000" y="46990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总结不同业务场景的最佳实践，提供清晰的技术决策依据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基础定位与设计目标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2222500"/>
          </a:xfrm>
          <a:prstGeom prst="roundRect">
            <a:avLst>
              <a:gd name="adj" fmla="val 20000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RTMP (Real-Time Messaging Protocol)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286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286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设计团队：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Adobe 公司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2730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2730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核心初衷：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专注流媒体稳定分发，解决大规模音视频并发播放痛点。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3302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3302000"/>
            <a:ext cx="635000" cy="304800"/>
          </a:xfrm>
          <a:prstGeom prst="roundRect">
            <a:avLst>
              <a:gd name="adj" fmla="val 41666"/>
            </a:avLst>
          </a:prstGeom>
          <a:solidFill>
            <a:srgbClr val="FFED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159000" y="3302000"/>
            <a:ext cx="762000" cy="304800"/>
          </a:xfrm>
          <a:prstGeom prst="roundRect">
            <a:avLst>
              <a:gd name="adj" fmla="val 41666"/>
            </a:avLst>
          </a:prstGeom>
          <a:solidFill>
            <a:srgbClr val="FFED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长连接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984500" y="3302000"/>
            <a:ext cx="889000" cy="304800"/>
          </a:xfrm>
          <a:prstGeom prst="roundRect">
            <a:avLst>
              <a:gd name="adj" fmla="val 41666"/>
            </a:avLst>
          </a:prstGeom>
          <a:solidFill>
            <a:srgbClr val="FFED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CDN分发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937000" y="3302000"/>
            <a:ext cx="762000" cy="304800"/>
          </a:xfrm>
          <a:prstGeom prst="roundRect">
            <a:avLst>
              <a:gd name="adj" fmla="val 41666"/>
            </a:avLst>
          </a:prstGeom>
          <a:solidFill>
            <a:srgbClr val="FFED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中等延迟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937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3937000"/>
            <a:ext cx="76200" cy="2222500"/>
          </a:xfrm>
          <a:prstGeom prst="roundRect">
            <a:avLst>
              <a:gd name="adj" fmla="val 20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79500" y="412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(Web Real-Time Communication)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" y="4699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460500" y="4699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标准制定：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W3C / IETF 联合标准化组织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9500" y="5143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460500" y="5143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核心初衷：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实现浏览器端原生互通，打造毫秒级超低延迟的双向互动体验。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57150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460500" y="5715000"/>
            <a:ext cx="635000" cy="304800"/>
          </a:xfrm>
          <a:prstGeom prst="roundRect">
            <a:avLst>
              <a:gd name="adj" fmla="val 41666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UDP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159000" y="5715000"/>
            <a:ext cx="1016000" cy="304800"/>
          </a:xfrm>
          <a:prstGeom prst="roundRect">
            <a:avLst>
              <a:gd name="adj" fmla="val 41666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P2P/SFU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238500" y="5715000"/>
            <a:ext cx="889000" cy="304800"/>
          </a:xfrm>
          <a:prstGeom prst="roundRect">
            <a:avLst>
              <a:gd name="adj" fmla="val 41666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弱网优化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191000" y="5715000"/>
            <a:ext cx="889000" cy="304800"/>
          </a:xfrm>
          <a:prstGeom prst="roundRect">
            <a:avLst>
              <a:gd name="adj" fmla="val 41666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超低延迟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1524000"/>
            <a:ext cx="4953000" cy="4635500"/>
          </a:xfrm>
          <a:prstGeom prst="roundRect">
            <a:avLst>
              <a:gd name="adj" fmla="val 328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2"/>
          <a:srcRect t="6652" b="6652"/>
          <a:stretch>
            <a:fillRect/>
          </a:stretch>
        </p:blipFill>
        <p:spPr>
          <a:xfrm>
            <a:off x="6477000" y="1778000"/>
            <a:ext cx="4445000" cy="3683000"/>
          </a:xfrm>
          <a:prstGeom prst="roundRect">
            <a:avLst>
              <a:gd name="adj" fmla="val 4137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0" name="AutoShape 30"/>
          <p:cNvSpPr/>
          <p:nvPr/>
        </p:nvSpPr>
        <p:spPr>
          <a:xfrm>
            <a:off x="6477000" y="5588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技术选型核心：平衡与取舍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核心技术对比：传输与可靠性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207000" cy="609600"/>
          </a:xfrm>
          <a:prstGeom prst="roundRect">
            <a:avLst>
              <a:gd name="adj" fmla="val 25000"/>
            </a:avLst>
          </a:prstGeom>
          <a:solidFill>
            <a:srgbClr val="5E6C8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397000"/>
            <a:ext cx="5207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RTMP · 传统流媒体协议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59000"/>
            <a:ext cx="2349500" cy="952500"/>
          </a:xfrm>
          <a:prstGeom prst="roundRect">
            <a:avLst>
              <a:gd name="adj" fmla="val 10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349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222500"/>
            <a:ext cx="165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底层传输机制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基于TCP长连接，面向字节流传输，数据无边界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429000" y="2159000"/>
            <a:ext cx="2349500" cy="952500"/>
          </a:xfrm>
          <a:prstGeom prst="roundRect">
            <a:avLst>
              <a:gd name="adj" fmla="val 10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000" y="2349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27500" y="2222500"/>
            <a:ext cx="165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可靠性保障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完全依赖TCP重传机制，丢包会导致链路阻塞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952500" y="3238500"/>
            <a:ext cx="2349500" cy="952500"/>
          </a:xfrm>
          <a:prstGeom prst="roundRect">
            <a:avLst>
              <a:gd name="adj" fmla="val 10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3429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3302000"/>
            <a:ext cx="165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拥塞控制能力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机制较弱，仅依赖TCP协议栈本身的被动调节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429000" y="3238500"/>
            <a:ext cx="2349500" cy="952500"/>
          </a:xfrm>
          <a:prstGeom prst="roundRect">
            <a:avLst>
              <a:gd name="adj" fmla="val 10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6000" y="3429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127500" y="3302000"/>
            <a:ext cx="165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丢包负面影响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丢包直接导致播放卡顿，且会产生显著的延迟累积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1397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0" y="1397000"/>
            <a:ext cx="5207000" cy="609600"/>
          </a:xfrm>
          <a:prstGeom prst="roundRect">
            <a:avLst>
              <a:gd name="adj" fmla="val 25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23000" y="1397000"/>
            <a:ext cx="5207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· 实时通信新标准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2159000"/>
            <a:ext cx="2349500" cy="952500"/>
          </a:xfrm>
          <a:prstGeom prst="roundRect">
            <a:avLst>
              <a:gd name="adj" fmla="val 10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23495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2222500"/>
            <a:ext cx="165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底层传输机制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以UDP为主，结合SRTP/DTLS协议实现安全加密传输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890000" y="2159000"/>
            <a:ext cx="2349500" cy="952500"/>
          </a:xfrm>
          <a:prstGeom prst="roundRect">
            <a:avLst>
              <a:gd name="adj" fmla="val 10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17000" y="23495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588500" y="2222500"/>
            <a:ext cx="165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可靠性保障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NACK否定确认 + FEC前向纠错，优先保障实时性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413500" y="3238500"/>
            <a:ext cx="2349500" cy="952500"/>
          </a:xfrm>
          <a:prstGeom prst="roundRect">
            <a:avLst>
              <a:gd name="adj" fmla="val 10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3429000"/>
            <a:ext cx="457200" cy="4572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112000" y="3302000"/>
            <a:ext cx="165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拥塞控制能力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机制强大，支持自适应码率(ABR)与分辨率动态调整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8890000" y="3238500"/>
            <a:ext cx="2349500" cy="952500"/>
          </a:xfrm>
          <a:prstGeom prst="roundRect">
            <a:avLst>
              <a:gd name="adj" fmla="val 10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17000" y="3429000"/>
            <a:ext cx="457200" cy="4572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588500" y="3302000"/>
            <a:ext cx="165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丢包智能应对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选择性重传关键帧，配合抗丢包算法，延迟极低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762000" y="4699000"/>
            <a:ext cx="10668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8"/>
          <a:srcRect l="1571" r="1571"/>
          <a:stretch>
            <a:fillRect/>
          </a:stretch>
        </p:blipFill>
        <p:spPr>
          <a:xfrm>
            <a:off x="1016000" y="4826000"/>
            <a:ext cx="2794000" cy="1397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6" name="AutoShape 36"/>
          <p:cNvSpPr/>
          <p:nvPr/>
        </p:nvSpPr>
        <p:spPr>
          <a:xfrm>
            <a:off x="4064000" y="4826000"/>
            <a:ext cx="6858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4318000" y="4953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协议传输机制对比示意图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4318000" y="5334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图示直观展示了 TCP（有序、重传）与 UDP（无序、实时）在数据传输层面的核心差异。WebRTC 正是利用了 UDP 的灵活性，结合上层的 NACK、FEC 等算法，在保证数据传输可靠性的同时，实现了低延迟的实时通信体验。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核心技术对比：延迟与兼容性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508000" cy="508000"/>
          </a:xfrm>
          <a:prstGeom prst="ellipse">
            <a:avLst/>
          </a:prstGeom>
          <a:solidFill>
            <a:srgbClr val="4080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18415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75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延迟表现 Latency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603500"/>
            <a:ext cx="4699000" cy="571500"/>
          </a:xfrm>
          <a:prstGeom prst="roundRect">
            <a:avLst>
              <a:gd name="adj" fmla="val 17777"/>
            </a:avLst>
          </a:prstGeom>
          <a:solidFill>
            <a:srgbClr val="F5F6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27051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RTMP：1.5s ~ 10s+ (转封装) | 无法支撑实时互动场景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302000"/>
            <a:ext cx="4699000" cy="571500"/>
          </a:xfrm>
          <a:prstGeom prst="roundRect">
            <a:avLst>
              <a:gd name="adj" fmla="val 17777"/>
            </a:avLst>
          </a:prstGeom>
          <a:solidFill>
            <a:srgbClr val="EB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3403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08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WebRTC：200ms ~ 800ms (低至100ms) | 完美支持连麦PK互动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937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127500"/>
            <a:ext cx="508000" cy="508000"/>
          </a:xfrm>
          <a:prstGeom prst="ellipse">
            <a:avLst/>
          </a:prstGeom>
          <a:solidFill>
            <a:srgbClr val="4080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42545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778000" y="4165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浏览器兼容性 Compatibility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1016009" y="481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5016500"/>
            <a:ext cx="4699000" cy="571500"/>
          </a:xfrm>
          <a:prstGeom prst="roundRect">
            <a:avLst>
              <a:gd name="adj" fmla="val 17777"/>
            </a:avLst>
          </a:prstGeom>
          <a:solidFill>
            <a:srgbClr val="F5F6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143000" y="51181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RTMP：浏览器无原生支持，需依赖 FLV.js 等第三方插件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715000"/>
            <a:ext cx="4699000" cy="571500"/>
          </a:xfrm>
          <a:prstGeom prst="roundRect">
            <a:avLst>
              <a:gd name="adj" fmla="val 17777"/>
            </a:avLst>
          </a:prstGeom>
          <a:solidFill>
            <a:srgbClr val="EB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143000" y="5816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08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WebRTC：Chrome/Firefox/Safari/Edge 全主流浏览器原生支持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1524000"/>
            <a:ext cx="4826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98000"/>
            </a:srgbClr>
          </a:solidFill>
          <a:ln w="25400" cap="flat" cmpd="sng">
            <a:noFill/>
            <a:prstDash val="solid"/>
            <a:round/>
          </a:ln>
          <a:effectLst>
            <a:outerShdw blurRad="317500" dist="76200" dir="27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rcRect l="452" r="452"/>
          <a:stretch>
            <a:fillRect/>
          </a:stretch>
        </p:blipFill>
        <p:spPr>
          <a:xfrm>
            <a:off x="7366000" y="1905000"/>
            <a:ext cx="2540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24" name="AutoShape 24"/>
          <p:cNvSpPr/>
          <p:nvPr/>
        </p:nvSpPr>
        <p:spPr>
          <a:xfrm>
            <a:off x="6477000" y="53340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技术优势总结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584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低延迟 · 强交互 · 免插件 · 全端覆盖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核心技术对比：架构模型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RTMP 架构：推拉流 + CDN 分发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06500" y="24130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核心特点：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单向数据流为主，服务端逻辑简单，依赖成熟的CDN网络进行大规模、低成本的内容分发。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06500" y="30480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传输链路：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推流端 → RTMP服务器 → 转封装 → CDN节点 → 边缘节点 → 播放端。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t="12376" b="12376"/>
          <a:stretch>
            <a:fillRect/>
          </a:stretch>
        </p:blipFill>
        <p:spPr>
          <a:xfrm>
            <a:off x="1016000" y="3937000"/>
            <a:ext cx="4699000" cy="2032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223000" y="1397000"/>
            <a:ext cx="5207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165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架构：信令 + SFU 媒体服务器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286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67500" y="24130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核心特点：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天然支持低延迟双向通信，需要信令、STUN/TURN和SFU等多个组件协同工作，架构复杂度较高。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67500" y="30480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传输链路：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采集端 → 编码 → ICE打洞/NAT穿透 → SFU媒体服务器转发 → 多观众端实时播放。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 t="23040" b="23040"/>
          <a:stretch>
            <a:fillRect/>
          </a:stretch>
        </p:blipFill>
        <p:spPr>
          <a:xfrm>
            <a:off x="6477000" y="3937000"/>
            <a:ext cx="4699000" cy="2032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服务端部署与成本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7145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RTMP 传统流媒体方案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23495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349500"/>
            <a:ext cx="2095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核心服务架构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2667000"/>
            <a:ext cx="209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SRS、Nginx-Rtmp 等成熟开源组件快速搭建。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2286000"/>
            <a:ext cx="23495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619500" y="2349500"/>
            <a:ext cx="2095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内容分发网络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19500" y="2667000"/>
            <a:ext cx="209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直接对接商用 CDN，无需自建大规模边缘集群。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3302000"/>
            <a:ext cx="2349500" cy="762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143000" y="3365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运维特点：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技术栈成熟，维护简单，系统稳定性极高。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92500" y="3302000"/>
            <a:ext cx="2349500" cy="762000"/>
          </a:xfrm>
          <a:prstGeom prst="roundRect">
            <a:avLst>
              <a:gd name="adj" fmla="val 13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619500" y="3365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成本优势：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分发成本极低，主要成本为标准CDN带宽费。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81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87500" y="43815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实时通信方案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4953000"/>
            <a:ext cx="23495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143000" y="5016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复杂架构：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需部署信令、STUN/TURN及SFU集群(如Mediasoup)。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492500" y="4953000"/>
            <a:ext cx="23495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3619500" y="5016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自建集群：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无通用商用CDN，高并发下需自建大规模SFU节点。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16000" y="5842000"/>
            <a:ext cx="2349500" cy="635000"/>
          </a:xfrm>
          <a:prstGeom prst="roundRect">
            <a:avLst>
              <a:gd name="adj" fmla="val 16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143000" y="59055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高运维门槛：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涉及NAT穿透、弱网抗丢包等深度优化。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492500" y="5842000"/>
            <a:ext cx="2349500" cy="635000"/>
          </a:xfrm>
          <a:prstGeom prst="roundRect">
            <a:avLst>
              <a:gd name="adj" fmla="val 16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3619500" y="59055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扩展成本高：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服务器资源消耗大，边际成本显著高于RTMP。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 l="15979" r="15979"/>
          <a:stretch>
            <a:fillRect/>
          </a:stretch>
        </p:blipFill>
        <p:spPr>
          <a:xfrm>
            <a:off x="6223000" y="1524000"/>
            <a:ext cx="4826000" cy="4953000"/>
          </a:xfrm>
          <a:prstGeom prst="roundRect">
            <a:avLst>
              <a:gd name="adj" fmla="val 315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并发能力与承载规模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3627" b="13627"/>
          <a:stretch>
            <a:fillRect/>
          </a:stretch>
        </p:blipFill>
        <p:spPr>
          <a:xfrm>
            <a:off x="1016000" y="1778000"/>
            <a:ext cx="4699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419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RTMP 流媒体协议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699000"/>
            <a:ext cx="4699000" cy="558800"/>
          </a:xfrm>
          <a:prstGeom prst="roundRect">
            <a:avLst>
              <a:gd name="adj" fmla="val 18181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48006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47752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单房承载：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无理论上限，完全依托CDN弹性扩容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334000"/>
            <a:ext cx="4699000" cy="558800"/>
          </a:xfrm>
          <a:prstGeom prst="roundRect">
            <a:avLst>
              <a:gd name="adj" fmla="val 18181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400" y="54356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54102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并发能力：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支持百万级高并发，带宽成本低廉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 t="13531" b="13531"/>
          <a:stretch>
            <a:fillRect/>
          </a:stretch>
        </p:blipFill>
        <p:spPr>
          <a:xfrm>
            <a:off x="6477000" y="1778000"/>
            <a:ext cx="4699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477000" y="419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实时通信协议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4699000"/>
            <a:ext cx="4699000" cy="558800"/>
          </a:xfrm>
          <a:prstGeom prst="roundRect">
            <a:avLst>
              <a:gd name="adj" fmla="val 18181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29400" y="48006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47752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单房承载：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单SFU节点极限几千人，受限于硬件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5334000"/>
            <a:ext cx="4699000" cy="558800"/>
          </a:xfrm>
          <a:prstGeom prst="roundRect">
            <a:avLst>
              <a:gd name="adj" fmla="val 18181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29400" y="54356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54102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适用场景：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小班课、视频会议等低并发高互动场景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适用业务场景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4953000"/>
          </a:xfrm>
          <a:prstGeom prst="roundRect">
            <a:avLst>
              <a:gd name="adj" fmla="val 41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1486" b="11486"/>
          <a:stretch>
            <a:fillRect/>
          </a:stretch>
        </p:blipFill>
        <p:spPr>
          <a:xfrm>
            <a:off x="1016000" y="1651000"/>
            <a:ext cx="4699000" cy="2413000"/>
          </a:xfrm>
          <a:prstGeom prst="roundRect">
            <a:avLst>
              <a:gd name="adj" fmla="val 631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419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RTMP 流媒体协议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699000"/>
            <a:ext cx="14732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4826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4826000"/>
            <a:ext cx="95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泛娱乐直播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秀场/游戏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616200" y="4699000"/>
            <a:ext cx="14732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43200" y="482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124200" y="4826000"/>
            <a:ext cx="95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电商带货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高并发观看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216400" y="4699000"/>
            <a:ext cx="14732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43400" y="4826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724400" y="4826000"/>
            <a:ext cx="95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大型活动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赛事/晚会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715000"/>
            <a:ext cx="4699000" cy="508000"/>
          </a:xfrm>
          <a:prstGeom prst="roundRect">
            <a:avLst>
              <a:gd name="adj" fmla="val 2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143000" y="57912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核心诉求：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成本敏感 · 海量并发 · 弱实时性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397000"/>
            <a:ext cx="5207000" cy="4953000"/>
          </a:xfrm>
          <a:prstGeom prst="roundRect">
            <a:avLst>
              <a:gd name="adj" fmla="val 41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rcRect t="11505" b="11505"/>
          <a:stretch>
            <a:fillRect/>
          </a:stretch>
        </p:blipFill>
        <p:spPr>
          <a:xfrm>
            <a:off x="6477000" y="1651000"/>
            <a:ext cx="4699000" cy="2413000"/>
          </a:xfrm>
          <a:prstGeom prst="roundRect">
            <a:avLst>
              <a:gd name="adj" fmla="val 631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477000" y="419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实时通信技术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699000"/>
            <a:ext cx="14732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4826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85000" y="4826000"/>
            <a:ext cx="95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在线教育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小班/互动课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77200" y="4699000"/>
            <a:ext cx="14732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4200" y="4826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585200" y="4826000"/>
            <a:ext cx="95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实时互动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PK/连麦/问答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677400" y="4699000"/>
            <a:ext cx="14732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804400" y="48260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0185400" y="4826000"/>
            <a:ext cx="95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实时通信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会议/远程问诊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5715000"/>
            <a:ext cx="4699000" cy="508000"/>
          </a:xfrm>
          <a:prstGeom prst="roundRect">
            <a:avLst>
              <a:gd name="adj" fmla="val 2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604000" y="57912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核心诉求：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超低延迟 · 双向强互动 · 浏览器原生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826000" y="2540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选型决策建议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429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333333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683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3683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优先选 RTMP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40894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观众多、并发大、延迟要求&gt;3s、预算有限的场景首选。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3429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333333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3683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461000" y="3683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9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优先选 WebRTC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461000" y="40894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需连麦互动、延迟要求&lt;1s、浏览器原生播放体验更佳。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3429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333333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3683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144000" y="3683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C27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推荐混合方案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144000" y="40894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RTMP推流 + WebRTC分发，兼顾生态丰富度与极致低延迟。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533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 spc="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1989</Words>
  <Application>WPS 演示</Application>
  <PresentationFormat/>
  <Paragraphs>214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阿武</cp:lastModifiedBy>
  <cp:revision>1</cp:revision>
  <dcterms:created xsi:type="dcterms:W3CDTF">2026-04-22T13:44:33Z</dcterms:created>
  <dcterms:modified xsi:type="dcterms:W3CDTF">2026-04-22T13:44:33Z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0F94147B73B0404A8E6BCE04DECDC3D8_12</vt:lpwstr>
  </property>
  <property fmtid="{D5CDD505-2E9C-101B-9397-08002B2CF9AE}" pid="3" name="KSOProductBuildVer">
    <vt:lpwstr>2052-12.1.0.25865</vt:lpwstr>
  </property>
</Properties>
</file>