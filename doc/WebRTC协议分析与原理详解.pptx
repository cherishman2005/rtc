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01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WebRTC协议。作为现代实时通信的基石，WebRTC让浏览器之间的点对点音视频通话成为可能。本次分享将从其基本概念、核心架构、关键技术到实际应用，全面解析WebRTC的工作原理。希望通过这次分享，能帮助大家快速掌握这项强大技术的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WebRTC到底是什么。简单来说，它是一套让网页浏览器能够进行实时语音和视频通话的技术标准。它最大的特点就是“无需插件”，直接在浏览器里就能实现。它的核心优势体现在四个方面：首先是低延迟，这是实时通信的基础；其次是端到端加密，保证了通信的安全性；第三是P2P优先架构，这大大降低了服务器的压力和成本；最后是全平台覆盖，无论是电脑还是手机，主流平台都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WebRTC的架构可以分为三层。最上层是应用层，也就是我们开发者直接接触的JavaScript API。中间是引擎层，负责处理音视频和网络传输等核心任务。最底层是协议层，包含了一系列实现网络穿透、安全传输的标准协议。在应用层，我们主要和三个核心API打交道：MediaStream用于获取音视频流，RTCPeerConnection是整个通信的核心，负责建立和管理连接，而RTCDataChannel则提供了一个点对点的数据传输通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建立连接，通信双方需要先“对话”，这个对话过程就是信令交换。需要注意的是，WebRTC本身不提供信令服务器，这部分需要我们自己实现。信令主要用来交换两种信息：一是SDP，也就是会话描述协议，它描述了自己能接收什么样的音视频格式；二是ICE候选地址，用于网络穿透。这个协商过程遵循一个叫JSEP的标准，采用经典的“Offer/Answer”模型，也就是一方发起请求，另一方回应，双方确认后，媒体参数就协商好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由于大多数设备都处于局域网内，被NAT设备隔离，直接点对点连接非常困难。WebRTC使用ICE框架来解决这个问题。ICE会收集多种可能的连接地址，包括本地地址、通过STUN服务器获取的公网地址，以及通过TURN服务器中继的地址。然后，它会尝试这些地址，找到一条能成功通信的路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STUN服务器帮助设备发现自己的公网地址，是实现P2P的关键。而TURN服务器则是在P2P实在无法建立时的最后选择，它会作为中继转发数据，但会带来额外的延迟和成本。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连接建立后，数据如何传输呢？这依赖于一系列协议。RTP协议负责传输实际的音视频数据，而RTCP协议则负责监控传输质量，并将信息反馈给发送方，以便进行调整。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为了保证安全，WebRTC使用DTLS协议进行安全握手，协商出加密密钥，然后用SRTP协议对RTP媒体流进行加密传输。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对于RTCDataChannel的数据传输，则使用SCTP协议，它同样运行在DTLS之上，确保了数据通道的安全性。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在各种网络环境下的通信质量，WebRTC内置了多种关键技术。首先是高效的音视频编解码。视频方面，它支持VP8、VP9和H.264等多种格式，兼顾了开源、高清和兼容性。音频方面，Opus编码以其出色的音质和抗丢包能力成为首选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其次是智能拥塞控制，WebRTC采用的GCC算法，能够同时基于网络延迟和丢包情况，动态调整发送速率，确保在网络拥堵时，视频依然能够流畅播放。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除了编解码和拥塞控制，WebRTC还通过一系列QoS机制来优化体验。比如，当检测到丢包时，会通过NACK机制请求重传；如果视频卡顿严重，会通过PLI机制请求关键帧来快速恢复画面。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带宽自适应技术能根据网络状况动态调整视频的清晰度。捆绑传输则将音视频等多个数据流合并到一个通道中传输，提高效率。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而分层编码技术，允许在网络不好时只传输基础画质，保证通信不中断。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所有环节串起来，看看一个完整的WebRTC通话是如何建立的。首先，通过getUserMedia获取本地的音视频。然后，通过信令服务器交换SDP和ICE候选地址。接着，双方进行Offer/Answer协商和ICE连通性检查，建立起最佳的网络路径。之后，进行DTLS安全握手，确保后续传输的安全性。最后，就可以通过RTP/RTCP协议开始加密的音视频传输了。整个过程还支持动态管理，比如中途打开或关闭摄像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WebRTC的应用场景非常广泛，从我们熟悉的视频会议、在线教育，到P2P文件共享、物联网设备监控，再到新兴的AR/VR社交，都有它的身影。展望未来，WebRTC也在不断演进。WebRTC 2.0将更好地支持大型会议；AV1编码将进一步降低带宽消耗；AI技术的融入将带来更智能的通信体验；而与边缘计算的结合，将使实时通信的延迟更低、体验更好。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1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5.sv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4.svg"/><Relationship Id="rId10" Type="http://schemas.openxmlformats.org/officeDocument/2006/relationships/image" Target="../media/image27.svg"/><Relationship Id="rId4" Type="http://schemas.openxmlformats.org/officeDocument/2006/relationships/image" Target="../media/image4.sv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9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4F8">
                <a:alpha val="100000"/>
              </a:srgbClr>
            </a:gs>
            <a:gs pos="100000">
              <a:srgbClr val="E2E8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WebRTC协议分析与原理详解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334000" y="3048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实时通信的核心技术揭秘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CORE TECHNOLOGY OF REAL-TIME COMMUNICATION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52070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什么是WebRTC？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" cy="1270000"/>
          </a:xfrm>
          <a:prstGeom prst="roundRect">
            <a:avLst>
              <a:gd name="adj" fmla="val 1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5240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WebRTC (Web Real-Time Communication) 是由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Google主导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W3C与IETF标准化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的开源项目与浏览器API，实现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无需插件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的点对点实时音视频通信与数据传输。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302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2385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低延迟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通常在 100-500ms 之间，保证流畅的实时交互体验，是实时通信的核心基石。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683000" y="3175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330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445000" y="32385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安全加密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默认采用 DTLS/SRTP 加密协议，有效确保了所有音视频及数据内容的隐私安全。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3175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302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2385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P2P架构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优先建立点对点直连，最大程度减少中转服务器依赖，显著降低带宽成本与延迟。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63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017000" y="3175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302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779000" y="32385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全平台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17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无缝支持主流浏览器、Web端、Android、iOS及桌面PC端，打破设备间的通信壁垒。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整体架构与三大核心API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17600" y="1676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 (Application Layer)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" y="2095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JavaScript API (RTCPeerConnection / MediaStream / RTCDataChannel)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7600" y="24384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面向开发者的统一接口，完全屏蔽底层网络与媒体处理复杂性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17600" y="3327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引擎层 (Engine Layer)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17600" y="3746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媒体引擎 (Media Engine) / 传输引擎 (Transport Engine) / 会话引擎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40894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负责音视频采集编码、网络传输控制、以及端到端的会话状态管理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117600" y="4978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协议层 (Protocol Layer)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17600" y="5397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ICE/STUN/TURN, DTLS/SRTP, RTP/RTCP, SCTP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17600" y="57404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实现NAT网络穿透、数据加密传输、媒体流实时控制与拥塞避免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1524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86500" y="17145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968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1714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MediaStream (媒体流)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21336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`getUserMedia` 或 `getDisplayMedia` 获取本地音视频流（摄像头、麦克风）或屏幕共享流，是通信的数据源基础。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0" y="3175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86500" y="33655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3619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3000" y="3365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RTCPeerConnection (核心连接)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37846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WebRTC的核心对象，负责处理NAT穿透、SDP媒体协商、以及端到端的音视频数据传输与带宽控制。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96000" y="4826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86500" y="5016500"/>
            <a:ext cx="1016000" cy="1016000"/>
          </a:xfrm>
          <a:prstGeom prst="roundRect">
            <a:avLst>
              <a:gd name="adj" fmla="val 2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52705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93000" y="5016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RTCDataChannel (数据通道)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93000" y="54356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建立低延迟、高吞吐的P2P数据通道，可在浏览器间直接传输任意二进制数据（如游戏状态、文件、文本消息）。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信令交换：建立连接的“语言”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1209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0955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31115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WebRTC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不提供内置信令服务器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，需开发者基于 WebSocket 等自行实现。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信令的核心职责是在通信双方之间交换两类关键信息：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SDP 会话描述协议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ICE 网络候选地址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19685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400" y="21209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20955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SDP 协议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889500" y="31115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通信双方的“能力说明书”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用于协商媒体能力与会话参数，决定了双方“能不能”通信。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包含关键内容：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媒体类型(音/视)、编解码器(H.264/VP8)、传输协议、加密安全参数等。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82000" y="19685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4400" y="21209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20955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JSEP 协商模型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921000"/>
            <a:ext cx="2794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572500" y="31115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标准的 Offer / Answer 模型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定义了 SDP 交换的标准工作流程：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1. 发起方生成 Offer SDP 并发送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2. 接收方应答生成 Answer SDP 返回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3. 双方确认 SDP，媒体协商正式完成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>
                <a:alpha val="100000"/>
              </a:srgbClr>
            </a:gs>
            <a:gs pos="100000">
              <a:srgbClr val="F1F5F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突破网络壁垒：NAT穿透技术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69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762000" cy="762000"/>
          </a:xfrm>
          <a:prstGeom prst="ellipse">
            <a:avLst/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800" y="1955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41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核心框架 ICE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286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交互式连通性建立方案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254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ICE 并非单一协议，而是一套完整的“地址收集与连通性检查”框架。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通过综合评估，为 P2P 通信智能选择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最佳数据传输路径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69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br>
              <a:rPr lang="en-US" sz="12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在复杂网络环境下建立连接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302000" cy="469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1778000"/>
            <a:ext cx="762000" cy="762000"/>
          </a:xfrm>
          <a:prstGeom prst="ellipse">
            <a:avLst/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800" y="1955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1841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地址优先级分层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2286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三类地址的可用性排序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2794000"/>
            <a:ext cx="2794000" cy="254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99000" y="30480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99000" y="3048000"/>
            <a:ext cx="508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889500" y="3111500"/>
            <a:ext cx="254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Host Candidate (本地)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局域网直连地址，延迟最低，优先级最高。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699000" y="41275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99000" y="4127500"/>
            <a:ext cx="50800" cy="95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889500" y="4191000"/>
            <a:ext cx="254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Server Reflexive (反射)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经 STUN 服务器映射出的公网 IP 地址。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699000" y="5207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699000" y="5207000"/>
            <a:ext cx="508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889500" y="527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Relay Candidate (中继)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经 TURN 服务器中转，P2P 失败时的兜底方案。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128000" y="1524000"/>
            <a:ext cx="3302000" cy="469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382000" y="1778000"/>
            <a:ext cx="762000" cy="762000"/>
          </a:xfrm>
          <a:prstGeom prst="ellipse">
            <a:avLst/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9800" y="19558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271000" y="1841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协议选型对比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71000" y="2286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按需选择，灵活互补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82000" y="2794000"/>
            <a:ext cx="2794000" cy="254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382000" y="30480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09000" y="317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STUN · P2P 首选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09000" y="3556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轻量级协议，仅协助客户端发现公网IP。无需存储数据，成本极低。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82000" y="44450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509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TURN · 兜底方案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509000" y="4953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 P2P 受阻时，作为中继转发数据。会带来额外延迟，且服务器成本较高。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实时媒体传输的协议基石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609600" cy="6096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955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RTP / RTCP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362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实时媒体传输核心基础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RTP 媒体传输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3556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负责音视频载荷传输。通过载荷类型(PT)标识编码，时间戳同步播放，序列号保障有序。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RTCP 质量控制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953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发送/接收报告(SR/RR)反馈状态，NACK/PLI进行丢包重传与关键帧请求，动态带宽估计。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99000" y="1905000"/>
            <a:ext cx="609600" cy="6096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1955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SRTP / DTLS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2362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端到端安全传输层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699000" y="3048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826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DTLS 握手协议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26000" y="3556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基于UDP的TLS安全握手，用于在通信双方安全地交换密钥，为SRTP提供加密参数。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99000" y="4445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826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SRTP 安全加密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826000" y="4953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为RTP媒体流提供高强度保护，包含数据加密、消息认证(MAC)以及重放保护功能。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28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382000" y="1905000"/>
            <a:ext cx="609600" cy="6096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032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144000" y="1955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SCTP 协议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44000" y="2362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通用数据通道协议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5626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382000" y="3048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09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灵活的数据传输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09000" y="3556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WebRTC中用于RTCDataChannel，支持可靠/不可靠模式切换，具备多流并发传输能力。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82000" y="4445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509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安全隧道承载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509000" y="4953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在WebRTC架构中，SCTP数据完全封装在DTLS记录层中传输，确保了信令外数据的安全性。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保障通信质量的核心技术（一）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879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高效音视频编解码技术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794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667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视频媒体 · 多标准适配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048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推荐：VP8 / VP9 / H.264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特性：VP8开源免专利，VP9支持4K超高清，H.264拥有极佳的全端兼容性。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937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191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064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音频媒体 · Opus 核心编码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44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特性：支持6kbps语音至510kbps音乐的宽频带编码，在弱网环境下抗丢包能力极强。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46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“ 平衡画质、音质与带宽开销的最优解 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1778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1879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1879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智能拥塞控制 (GCC &amp; TWCC)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540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794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2667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GCC：核心拥塞控制算法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66000" y="3022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WebRTC 默认的核心算法，基于带宽探测模型，动态计算网络容量。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3746500"/>
            <a:ext cx="46990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064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66000" y="38735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基于延迟的动态反馈 (TWCC)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66000" y="42291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TWCC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扩展报文，接收端实时报告数据包延迟，发送端据此平滑调整码率。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080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3340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5207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基于丢包的参数补偿 (NACK)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66000" y="55626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RTCP NACK 检测丢包，动态调整编码分辨率与帧率。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保障通信质量的核心技术（二）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413000" y="184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NACK/PLI/FIR 重传恢复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413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通过NACK请求丢包重传，PLI/FIR主动请求关键帧，在网络丢包或抖动时快速恢复视频画面，显著降低卡顿感。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778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5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874000" y="184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带宽自适应 (ABR)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2413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实时监测网络带宽与RTT变化，动态调整视频编码的比特率与分辨率，在保证画面清晰度与播放流畅度间取得最佳平衡。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191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4699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413000" y="4254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捆绑传输 (Bundle)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13000" y="482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将音频、视频、控制信令等多路媒体流复用至单一传输通道，大幅减少端口占用数量，降低连接建立耗时与传输延迟。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937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4191000"/>
            <a:ext cx="1143000" cy="1651000"/>
          </a:xfrm>
          <a:prstGeom prst="roundRect">
            <a:avLst>
              <a:gd name="adj" fmla="val 13333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4699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874000" y="4254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分层编码 (SVC)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482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将视频流编码为“基础层+增强层”，网络较差时仅传输基础层数据保障通信不中断，网络恢复后自动叠加增强层提升画质。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WebRTC完整工作流程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6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19177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71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媒体捕获 (Media Capture)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13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`getUserMedia` API 获取本地音视频流，作为通信的信源输入。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3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31877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298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信令初始化 (Signaling Init)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340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 WebSocket 信令连接，准备在客户端间交换 SDP 描述与 ICE 候选信息。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30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44577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425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连接建立 (Offer / Answer)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467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发起方发送 Offer，接收方回复 Answer，双方交换 SDP 完成媒体能力协商。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557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57277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905000" y="552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NAT穿透 (ICE Candidates)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905000" y="594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收集并交换网络地址候选，执行连通性检查，自动选择最优的 P2P 传输路径。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77000" y="176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19177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66000" y="171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安全握手 (DTLS Handshake)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66000" y="213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 DTLS 加密连接，交换 SRTP 密钥，确保后续所有媒体数据传输的安全性。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279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477000" y="303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31877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298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 媒体传输 (RTP / RTCP)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66000" y="340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SRTP 传输加密音视频流，同时利用 RTCP 实时反馈网络质量与统计信息。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06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477000" y="430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9400" y="44577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366000" y="425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07. 数据通道 (Data Channel)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366000" y="467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可选创建 `RTCDataChannel`，在不依赖 WebSocket 的情况下传输文本、文件等非媒体数据。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477000" y="5575300"/>
            <a:ext cx="660400" cy="660400"/>
          </a:xfrm>
          <a:prstGeom prst="ellipse">
            <a:avLst/>
          </a:prstGeom>
          <a:solidFill>
            <a:srgbClr val="6EE7B7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5727700"/>
            <a:ext cx="355600" cy="355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366000" y="552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08. 会话管理 (Session Management)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366000" y="594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支持通话过程中的动态控制，如增减媒体流、网络切换重协商、或优雅关闭连接。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AFB">
                <a:alpha val="100000"/>
              </a:srgbClr>
            </a:gs>
            <a:gs pos="100000">
              <a:srgbClr val="F3F4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应用场景与技术演进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778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603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实时通信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048000"/>
            <a:ext cx="209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71717A"/>
                </a:solidFill>
                <a:latin typeface="Noto Sans SC"/>
                <a:ea typeface="Noto Sans SC"/>
                <a:cs typeface="Noto Sans SC"/>
                <a:sym typeface="Noto Sans SC"/>
              </a:rPr>
              <a:t>视频会议、在线教育、远程医疗、直播连麦的核心支撑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413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603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P2P数据传输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048000"/>
            <a:ext cx="209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71717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实现高效的文件共享、游戏联机与多人实时协作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000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000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物联网监控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4445000"/>
            <a:ext cx="209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71717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智能家居实时监控、工业设备高清视频流低延迟回传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92500" y="3810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4000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127500" y="4000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沉浸式互动娱乐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19500" y="4445000"/>
            <a:ext cx="209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71717A"/>
                </a:solidFill>
                <a:latin typeface="Noto Sans SC"/>
                <a:ea typeface="Noto Sans SC"/>
                <a:cs typeface="Noto Sans SC"/>
                <a:sym typeface="Noto Sans SC"/>
              </a:rPr>
              <a:t>赋能AR/VR社交互动、虚拟活动直播与云游戏渲染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1778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核心技术演进方向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241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2540000"/>
            <a:ext cx="457200" cy="508000"/>
          </a:xfrm>
          <a:prstGeom prst="roundRect">
            <a:avLst>
              <a:gd name="adj" fmla="val 22222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4000" y="26416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2540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WebRTC 2.0 架构升级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2857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引入SFU/MCU分布式架构，支持更大规模的实时会议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3302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04000" y="3429000"/>
            <a:ext cx="457200" cy="508000"/>
          </a:xfrm>
          <a:prstGeom prst="roundRect">
            <a:avLst>
              <a:gd name="adj" fmla="val 22222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04000" y="35306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239000" y="3429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AV1 高效视频编解码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239000" y="3746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提供更高压缩率，在弱网环境下实现更低带宽占用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4191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604000" y="4318000"/>
            <a:ext cx="457200" cy="508000"/>
          </a:xfrm>
          <a:prstGeom prst="roundRect">
            <a:avLst>
              <a:gd name="adj" fmla="val 22222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44196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239000" y="431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WebTransport 通道集成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239000" y="4635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替代SCTP，提供更灵活、低延迟的数据传输能力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77000" y="5080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604000" y="5207000"/>
            <a:ext cx="457200" cy="508000"/>
          </a:xfrm>
          <a:prstGeom prst="roundRect">
            <a:avLst>
              <a:gd name="adj" fmla="val 22222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04000" y="53086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239000" y="5207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全链路智能增强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239000" y="5524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AI降噪、背景替换、视频超分，带来极致视听体验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Microsoft Office PowerPoint</Application>
  <PresentationFormat>宽屏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404217824@qq.com</cp:lastModifiedBy>
  <cp:revision>1</cp:revision>
  <dcterms:modified xsi:type="dcterms:W3CDTF">2026-04-19T17:53:12Z</dcterms:modified>
</cp:coreProperties>
</file>